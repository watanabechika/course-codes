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9"/>
  </p:notesMasterIdLst>
  <p:handoutMasterIdLst>
    <p:handoutMasterId r:id="rId20"/>
  </p:handoutMasterIdLst>
  <p:sldIdLst>
    <p:sldId id="259" r:id="rId2"/>
    <p:sldId id="262" r:id="rId3"/>
    <p:sldId id="307" r:id="rId4"/>
    <p:sldId id="322" r:id="rId5"/>
    <p:sldId id="308" r:id="rId6"/>
    <p:sldId id="309" r:id="rId7"/>
    <p:sldId id="315" r:id="rId8"/>
    <p:sldId id="316" r:id="rId9"/>
    <p:sldId id="317" r:id="rId10"/>
    <p:sldId id="311" r:id="rId11"/>
    <p:sldId id="320" r:id="rId12"/>
    <p:sldId id="318" r:id="rId13"/>
    <p:sldId id="319" r:id="rId14"/>
    <p:sldId id="321" r:id="rId15"/>
    <p:sldId id="312" r:id="rId16"/>
    <p:sldId id="323" r:id="rId17"/>
    <p:sldId id="282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98"/>
    <a:srgbClr val="FF5050"/>
    <a:srgbClr val="FF552D"/>
    <a:srgbClr val="3F6EAA"/>
    <a:srgbClr val="7FB1D8"/>
    <a:srgbClr val="003C90"/>
    <a:srgbClr val="B5B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4" autoAdjust="0"/>
    <p:restoredTop sz="95625" autoAdjust="0"/>
  </p:normalViewPr>
  <p:slideViewPr>
    <p:cSldViewPr snapToGrid="0">
      <p:cViewPr varScale="1">
        <p:scale>
          <a:sx n="92" d="100"/>
          <a:sy n="92" d="100"/>
        </p:scale>
        <p:origin x="990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496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C1FBA-CF23-45CA-A289-03E32D160964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2B0C5-C56D-47E9-BCFE-D990A940F1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00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66BD8-0FC1-456F-BDC6-7D0CA8E36566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FC841-E2E1-4802-8701-94EA307E9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今天我汇报的是对论文</a:t>
            </a:r>
            <a:r>
              <a:rPr lang="en-US" altLang="zh-CN" dirty="0"/>
              <a:t>《</a:t>
            </a:r>
            <a:r>
              <a:rPr lang="en-US" altLang="zh-CN" dirty="0" err="1"/>
              <a:t>LEOCraft</a:t>
            </a:r>
            <a:r>
              <a:rPr lang="en-US" altLang="zh-CN" dirty="0"/>
              <a:t>》</a:t>
            </a:r>
            <a:r>
              <a:rPr lang="zh-CN" altLang="en-US" dirty="0"/>
              <a:t>的方案验证工作。该论文提出了一个面向</a:t>
            </a:r>
            <a:r>
              <a:rPr lang="en-US" altLang="zh-CN" dirty="0"/>
              <a:t>LEO</a:t>
            </a:r>
            <a:r>
              <a:rPr lang="zh-CN" altLang="en-US" dirty="0"/>
              <a:t>星座设计的流级仿真框架，我们的目标是通过合成规模星座实验，复现并验证其核心结论。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140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这是这篇论文的标题，它发表在</a:t>
            </a:r>
            <a:r>
              <a:rPr lang="en-US" altLang="zh-CN" dirty="0"/>
              <a:t>2025</a:t>
            </a:r>
            <a:r>
              <a:rPr lang="zh-CN" altLang="en-US" dirty="0"/>
              <a:t>年的</a:t>
            </a:r>
            <a:r>
              <a:rPr lang="en-US" altLang="zh-CN" dirty="0"/>
              <a:t>USENIX ATC</a:t>
            </a:r>
            <a:r>
              <a:rPr lang="zh-CN" altLang="en-US" dirty="0"/>
              <a:t>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318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460B-64C1-AA35-32A4-4B2DC92C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6EABD1-A78E-CB41-D6E6-B3257D303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B96C15-0C70-A206-B38A-12B7294D1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首先简要介绍一下这篇论文。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zh-CN" dirty="0"/>
              <a:t>论文提出的LEOCraft</a:t>
            </a:r>
            <a:r>
              <a:rPr lang="zh-CN" altLang="en-US" dirty="0"/>
              <a:t>是一个</a:t>
            </a:r>
            <a:r>
              <a:rPr lang="zh-CN" altLang="en-US" sz="1200" dirty="0"/>
              <a:t>开源、模块化、可扩展的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LEO</a:t>
            </a:r>
            <a:r>
              <a:rPr lang="en-US" altLang="zh-CN" sz="1200" dirty="0"/>
              <a:t> </a:t>
            </a:r>
            <a:r>
              <a:rPr lang="zh-CN" altLang="en-US" sz="1200" dirty="0"/>
              <a:t>星座仿真器，</a:t>
            </a:r>
            <a:r>
              <a:rPr lang="zh-CN" altLang="zh-CN" dirty="0"/>
              <a:t>核心架构如图所示。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上层是LEO</a:t>
            </a:r>
            <a:r>
              <a:rPr lang="zh-CN" altLang="en-US" dirty="0"/>
              <a:t>星座生成器</a:t>
            </a:r>
            <a:r>
              <a:rPr lang="zh-CN" altLang="zh-CN" dirty="0"/>
              <a:t>，它接收</a:t>
            </a:r>
            <a:r>
              <a:rPr lang="zh-CN" altLang="en-US" dirty="0"/>
              <a:t>七</a:t>
            </a:r>
            <a:r>
              <a:rPr lang="zh-CN" altLang="zh-CN" dirty="0"/>
              <a:t>个设计参数——高度、倾角、轨道数、每轨卫星数、</a:t>
            </a:r>
            <a:r>
              <a:rPr lang="zh-CN" altLang="en-US" dirty="0"/>
              <a:t>壳层数量、</a:t>
            </a:r>
            <a:r>
              <a:rPr lang="zh-CN" altLang="zh-CN" dirty="0"/>
              <a:t>相位偏移和仰角——自动生成卫星TLE轨道数据和拓扑连接。</a:t>
            </a:r>
            <a:r>
              <a:rPr lang="zh-CN" altLang="en-US" dirty="0"/>
              <a:t>下</a:t>
            </a:r>
            <a:r>
              <a:rPr lang="zh-CN" altLang="zh-CN" dirty="0"/>
              <a:t>层</a:t>
            </a:r>
            <a:r>
              <a:rPr lang="zh-CN" altLang="en-US" dirty="0"/>
              <a:t>用任务队列</a:t>
            </a:r>
            <a:r>
              <a:rPr lang="zh-CN" altLang="zh-CN" dirty="0"/>
              <a:t>配合进程池执行器，将每个星座实例的评估任务分配到独立进程，完全绕过Python的GIL全局解释器锁，实现真正的CPU并行。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1366B-39A8-8E0F-7AFA-EB05A7A0D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79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5CCE-C337-5463-696C-7BDDCD1D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812193-A7D5-9391-9CC6-AA6B471B7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DB8439-43D4-7445-527C-D4373BCA4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基于上述框架，我们确定四个待验证结论</a:t>
            </a:r>
            <a:r>
              <a:rPr lang="zh-CN" altLang="en-US" dirty="0"/>
              <a:t>：高度和倾角的敏感性、单层多层架构权衡、时变稳定性、以及不同流量指标下的性能排序。我们为这四个结论的验证提供了四种不同的实验方案。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并利用 </a:t>
            </a:r>
            <a:r>
              <a:rPr lang="en-US" altLang="zh-CN" dirty="0" err="1"/>
              <a:t>LEOCraft</a:t>
            </a:r>
            <a:r>
              <a:rPr lang="en-US" altLang="zh-CN" dirty="0"/>
              <a:t> </a:t>
            </a:r>
            <a:r>
              <a:rPr lang="zh-CN" altLang="en-US" dirty="0"/>
              <a:t>的仿真架构系统进行模拟。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41E53C-3BEC-A459-B032-A2F5293D6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089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5258-7768-2EF0-042E-2BA3D2CB1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547416-C548-FF1A-C83C-76295DFAE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A052E7-1F56-CA0B-B6B5-BAFCE38BB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具体来说，实验分为</a:t>
            </a:r>
            <a:r>
              <a:rPr lang="zh-CN" altLang="zh-CN" dirty="0"/>
              <a:t>基础星座生成</a:t>
            </a:r>
            <a:r>
              <a:rPr lang="zh-CN" altLang="en-US" dirty="0"/>
              <a:t>、单参数扰动、流级仿真评估、数据收集分析这四个步骤。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环境配置如下：合成星座共</a:t>
            </a:r>
            <a:r>
              <a:rPr lang="en-US" altLang="zh-CN" dirty="0"/>
              <a:t>3888</a:t>
            </a:r>
            <a:r>
              <a:rPr lang="zh-CN" altLang="en-US" dirty="0"/>
              <a:t>颗卫星，对标</a:t>
            </a:r>
            <a:r>
              <a:rPr lang="en-US" altLang="zh-CN" dirty="0"/>
              <a:t>Starlink</a:t>
            </a:r>
            <a:r>
              <a:rPr lang="zh-CN" altLang="en-US" dirty="0"/>
              <a:t>第一代的三壳合并规模。地面站默认设在</a:t>
            </a:r>
            <a:r>
              <a:rPr lang="en-US" altLang="zh-CN" dirty="0"/>
              <a:t>100</a:t>
            </a:r>
            <a:r>
              <a:rPr lang="zh-CN" altLang="en-US" dirty="0"/>
              <a:t>个人口最密集城市，采用</a:t>
            </a:r>
            <a:r>
              <a:rPr lang="zh-CN" altLang="zh-CN" dirty="0"/>
              <a:t>Ka波段链路预算模型</a:t>
            </a:r>
            <a:r>
              <a:rPr lang="zh-CN" altLang="en-US" dirty="0"/>
              <a:t>和</a:t>
            </a:r>
            <a:r>
              <a:rPr lang="zh-CN" altLang="zh-CN" dirty="0"/>
              <a:t>20条最短路径路由策略</a:t>
            </a:r>
            <a:r>
              <a:rPr lang="zh-CN" altLang="en-US" dirty="0"/>
              <a:t>。我们系统性地变化五个维度：高度从</a:t>
            </a:r>
            <a:r>
              <a:rPr lang="en-US" altLang="zh-CN" dirty="0"/>
              <a:t>340</a:t>
            </a:r>
            <a:r>
              <a:rPr lang="zh-CN" altLang="en-US" dirty="0"/>
              <a:t>到</a:t>
            </a:r>
            <a:r>
              <a:rPr lang="en-US" altLang="zh-CN" dirty="0"/>
              <a:t>2000</a:t>
            </a:r>
            <a:r>
              <a:rPr lang="zh-CN" altLang="en-US" dirty="0"/>
              <a:t>公里、倾角从</a:t>
            </a:r>
            <a:r>
              <a:rPr lang="en-US" altLang="zh-CN" dirty="0"/>
              <a:t>30</a:t>
            </a:r>
            <a:r>
              <a:rPr lang="zh-CN" altLang="en-US" dirty="0"/>
              <a:t>到</a:t>
            </a:r>
            <a:r>
              <a:rPr lang="en-US" altLang="zh-CN" dirty="0"/>
              <a:t>80</a:t>
            </a:r>
            <a:r>
              <a:rPr lang="zh-CN" altLang="en-US" dirty="0"/>
              <a:t>度、对比单层密集与多层分离架构、观测</a:t>
            </a:r>
            <a:r>
              <a:rPr lang="en-US" altLang="zh-CN" dirty="0"/>
              <a:t>24</a:t>
            </a:r>
            <a:r>
              <a:rPr lang="zh-CN" altLang="en-US" dirty="0"/>
              <a:t>小时时变行为、以及测试三种流量指标。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E67257-A19D-6345-A2DE-BB3A8EE74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360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8D41F-10F3-FE62-BE1C-6C45477B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072D84-11F0-92E6-B731-26F1AC2FD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F9E591-5CA0-ECFC-165C-C16781CA5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我们首先看轨道高度对吞吐的影响。横轴是卫星高度，从</a:t>
            </a:r>
            <a:r>
              <a:rPr lang="en-US" altLang="zh-CN" dirty="0"/>
              <a:t>340km</a:t>
            </a:r>
            <a:r>
              <a:rPr lang="zh-CN" altLang="en-US" dirty="0"/>
              <a:t>到</a:t>
            </a:r>
            <a:r>
              <a:rPr lang="en-US" altLang="zh-CN" dirty="0"/>
              <a:t>2000km</a:t>
            </a:r>
            <a:r>
              <a:rPr lang="zh-CN" altLang="en-US" dirty="0"/>
              <a:t>，纵轴红色是总吞吐量，蓝色虚线是流量满足率。可以看到一个明显的</a:t>
            </a:r>
            <a:r>
              <a:rPr lang="zh-CN" altLang="en-US" b="1" dirty="0"/>
              <a:t>倒</a:t>
            </a:r>
            <a:r>
              <a:rPr lang="en-US" altLang="zh-CN" b="1" dirty="0"/>
              <a:t>U</a:t>
            </a:r>
            <a:r>
              <a:rPr lang="zh-CN" altLang="en-US" b="1" dirty="0"/>
              <a:t>型曲线</a:t>
            </a:r>
            <a:r>
              <a:rPr lang="zh-CN" altLang="en-US" dirty="0"/>
              <a:t>：低高度时覆盖不足，只有</a:t>
            </a:r>
            <a:r>
              <a:rPr lang="en-US" altLang="zh-CN" dirty="0"/>
              <a:t>1680Gbps</a:t>
            </a:r>
            <a:r>
              <a:rPr lang="zh-CN" altLang="en-US" dirty="0"/>
              <a:t>；随着高度上升，覆盖扩大、路径多样性增加，在</a:t>
            </a:r>
            <a:r>
              <a:rPr lang="en-US" altLang="zh-CN" b="1" dirty="0"/>
              <a:t>1200km</a:t>
            </a:r>
            <a:r>
              <a:rPr lang="zh-CN" altLang="en-US" b="1" dirty="0"/>
              <a:t>达到峰值</a:t>
            </a:r>
            <a:r>
              <a:rPr lang="en-US" altLang="zh-CN" b="1" dirty="0"/>
              <a:t>4059Gbps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但继续升高到</a:t>
            </a:r>
            <a:r>
              <a:rPr lang="en-US" altLang="zh-CN" dirty="0"/>
              <a:t>2000km</a:t>
            </a:r>
            <a:r>
              <a:rPr lang="zh-CN" altLang="en-US" dirty="0"/>
              <a:t>，</a:t>
            </a:r>
            <a:r>
              <a:rPr lang="en-US" altLang="zh-CN" dirty="0"/>
              <a:t>GSL</a:t>
            </a:r>
            <a:r>
              <a:rPr lang="zh-CN" altLang="en-US" dirty="0"/>
              <a:t>链路损耗增大、带宽被过多地面站稀释，吞吐回落到</a:t>
            </a:r>
            <a:r>
              <a:rPr lang="en-US" altLang="zh-CN" dirty="0"/>
              <a:t>3481Gbps</a:t>
            </a:r>
            <a:r>
              <a:rPr lang="zh-CN" altLang="en-US" dirty="0"/>
              <a:t>。这说明存在一个最优高度区间，不是越高越好。</a:t>
            </a:r>
            <a:endParaRPr lang="en-US" altLang="zh-CN" dirty="0"/>
          </a:p>
          <a:p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注意这里有一个波谷，这不是实验错误，而是</a:t>
            </a:r>
            <a:r>
              <a:rPr lang="zh-CN" altLang="en-US" dirty="0">
                <a:solidFill>
                  <a:schemeClr val="tx1"/>
                </a:solidFill>
              </a:rPr>
              <a:t>高度参数对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 </a:t>
            </a:r>
            <a:r>
              <a:rPr lang="zh-CN" altLang="en-US" dirty="0">
                <a:solidFill>
                  <a:schemeClr val="tx1"/>
                </a:solidFill>
              </a:rPr>
              <a:t>网络“连通性”的非线性影响</a:t>
            </a:r>
            <a:r>
              <a:rPr lang="zh-CN" altLang="en-US" b="0" dirty="0"/>
              <a:t>。</a:t>
            </a:r>
            <a:r>
              <a:rPr lang="zh-CN" altLang="zh-CN" dirty="0"/>
              <a:t>当高度在 600 km 左右时，卫星轨道半径小，单星覆盖范围窄，但星座总卫星数固定，导致局部区域卫星‘扎堆’，星间链路</a:t>
            </a:r>
            <a:r>
              <a:rPr lang="en-US" altLang="zh-CN" dirty="0"/>
              <a:t>ISL</a:t>
            </a:r>
            <a:r>
              <a:rPr lang="zh-CN" altLang="zh-CN" dirty="0"/>
              <a:t>因视距限制难以稳定连接</a:t>
            </a:r>
            <a:r>
              <a:rPr lang="zh-CN" altLang="en-US" dirty="0"/>
              <a:t>；</a:t>
            </a:r>
            <a:r>
              <a:rPr lang="zh-CN" altLang="zh-CN" dirty="0"/>
              <a:t>而当高度超过 1000 km 后，卫星轨道半径增大，单星覆盖范围扩展，ISL 的视距条件改善，网络拓扑的连通性恢复，所以流量容纳能力重新回升。这个波谷验证了‘高度选择需平衡覆盖与连通性’的设计原则——只看吞吐量增长不够，必须同时关注流量能否被有效承载。” 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1A7D8F-930D-6610-B25A-E409E8888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976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25B06-4107-DEFF-62D1-08714F7E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133375-66A7-83E1-F3A8-D8763639F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3F54F5-59A9-745B-AF79-A8B3E7593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高度不仅影响吞吐，还改变了路径结构。上图是跳数变化：蓝色</a:t>
            </a:r>
            <a:r>
              <a:rPr lang="en-US" altLang="zh-CN" dirty="0"/>
              <a:t>NS</a:t>
            </a:r>
            <a:r>
              <a:rPr lang="zh-CN" altLang="en-US" dirty="0"/>
              <a:t>跳数从</a:t>
            </a:r>
            <a:r>
              <a:rPr lang="en-US" altLang="zh-CN" dirty="0"/>
              <a:t>10</a:t>
            </a:r>
            <a:r>
              <a:rPr lang="zh-CN" altLang="en-US" dirty="0"/>
              <a:t>降到</a:t>
            </a:r>
            <a:r>
              <a:rPr lang="en-US" altLang="zh-CN" dirty="0"/>
              <a:t>3</a:t>
            </a:r>
            <a:r>
              <a:rPr lang="zh-CN" altLang="en-US" dirty="0"/>
              <a:t>，橙色</a:t>
            </a:r>
            <a:r>
              <a:rPr lang="en-US" altLang="zh-CN" dirty="0"/>
              <a:t>HG</a:t>
            </a:r>
            <a:r>
              <a:rPr lang="zh-CN" altLang="en-US" dirty="0"/>
              <a:t>跳数从</a:t>
            </a:r>
            <a:r>
              <a:rPr lang="en-US" altLang="zh-CN" dirty="0"/>
              <a:t>14</a:t>
            </a:r>
            <a:r>
              <a:rPr lang="zh-CN" altLang="en-US" dirty="0"/>
              <a:t>降到</a:t>
            </a:r>
            <a:r>
              <a:rPr lang="en-US" altLang="zh-CN" dirty="0"/>
              <a:t>7</a:t>
            </a:r>
            <a:r>
              <a:rPr lang="zh-CN" altLang="en-US" dirty="0"/>
              <a:t>，说明</a:t>
            </a:r>
            <a:r>
              <a:rPr lang="zh-CN" altLang="en-US" b="1" dirty="0"/>
              <a:t>高轨道提供了长距离</a:t>
            </a:r>
            <a:r>
              <a:rPr lang="en-US" altLang="zh-CN" b="1" dirty="0"/>
              <a:t>‘</a:t>
            </a:r>
            <a:r>
              <a:rPr lang="zh-CN" altLang="en-US" b="1" dirty="0"/>
              <a:t>捷径</a:t>
            </a:r>
            <a:r>
              <a:rPr lang="en-US" altLang="zh-CN" b="1" dirty="0"/>
              <a:t>’</a:t>
            </a:r>
            <a:r>
              <a:rPr lang="zh-CN" altLang="en-US" b="1" dirty="0"/>
              <a:t>能力</a:t>
            </a:r>
            <a:r>
              <a:rPr lang="zh-CN" altLang="en-US" dirty="0"/>
              <a:t>。但下图显示红色的</a:t>
            </a:r>
            <a:r>
              <a:rPr lang="en-US" altLang="zh-CN" dirty="0"/>
              <a:t>LG Stretch</a:t>
            </a:r>
            <a:r>
              <a:rPr lang="zh-CN" altLang="en-US" dirty="0"/>
              <a:t>从</a:t>
            </a:r>
            <a:r>
              <a:rPr lang="en-US" altLang="zh-CN" dirty="0"/>
              <a:t>1.66</a:t>
            </a:r>
            <a:r>
              <a:rPr lang="zh-CN" altLang="en-US" dirty="0"/>
              <a:t>恶化到</a:t>
            </a:r>
            <a:r>
              <a:rPr lang="en-US" altLang="zh-CN" dirty="0"/>
              <a:t>3.56——</a:t>
            </a:r>
          </a:p>
          <a:p>
            <a:endParaRPr lang="en-US" altLang="zh-CN" dirty="0"/>
          </a:p>
          <a:p>
            <a:r>
              <a:rPr lang="zh-CN" altLang="en-US" dirty="0"/>
              <a:t>因为局部路由需要上星再下星，高度越高这段</a:t>
            </a:r>
            <a:r>
              <a:rPr lang="en-US" altLang="zh-CN" dirty="0"/>
              <a:t>GSL</a:t>
            </a:r>
            <a:r>
              <a:rPr lang="zh-CN" altLang="en-US" dirty="0"/>
              <a:t>开销越大。绿色的</a:t>
            </a:r>
            <a:r>
              <a:rPr lang="en-US" altLang="zh-CN" dirty="0"/>
              <a:t>NS Stretch</a:t>
            </a:r>
            <a:r>
              <a:rPr lang="zh-CN" altLang="en-US" dirty="0"/>
              <a:t>则从</a:t>
            </a:r>
            <a:r>
              <a:rPr lang="en-US" altLang="zh-CN" dirty="0"/>
              <a:t>2.55</a:t>
            </a:r>
            <a:r>
              <a:rPr lang="zh-CN" altLang="en-US" dirty="0"/>
              <a:t>降到</a:t>
            </a:r>
            <a:r>
              <a:rPr lang="en-US" altLang="zh-CN" dirty="0"/>
              <a:t>1.51</a:t>
            </a:r>
            <a:r>
              <a:rPr lang="zh-CN" altLang="en-US" dirty="0"/>
              <a:t>，长距离路由反而更优。</a:t>
            </a:r>
            <a:r>
              <a:rPr lang="zh-CN" altLang="en-US" b="1" dirty="0"/>
              <a:t>这揭示了高度的方向性影响：高高度利好长距离，但对短距离不利</a:t>
            </a:r>
            <a:r>
              <a:rPr lang="zh-CN" altLang="en-US" dirty="0"/>
              <a:t>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01ADDF-32D9-6E7C-1CD6-24760693F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70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2FB5A-776A-4223-B51F-6EE262A7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0CB90C-A83C-5D69-5DEA-3D7B4D671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4DBDF9-B801-0A74-B819-43D8D7E15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接下来看倾角。横轴是轨道倾角，从</a:t>
            </a:r>
            <a:r>
              <a:rPr lang="en-US" altLang="zh-CN" dirty="0"/>
              <a:t>30°</a:t>
            </a:r>
            <a:r>
              <a:rPr lang="zh-CN" altLang="en-US" dirty="0"/>
              <a:t>到</a:t>
            </a:r>
            <a:r>
              <a:rPr lang="en-US" altLang="zh-CN" dirty="0"/>
              <a:t>80°</a:t>
            </a:r>
            <a:r>
              <a:rPr lang="zh-CN" altLang="en-US" dirty="0"/>
              <a:t>。绿色实线是吞吐量，在</a:t>
            </a:r>
            <a:r>
              <a:rPr lang="en-US" altLang="zh-CN" b="1" dirty="0"/>
              <a:t>40°</a:t>
            </a:r>
            <a:r>
              <a:rPr lang="zh-CN" altLang="en-US" b="1" dirty="0"/>
              <a:t>达到峰值</a:t>
            </a:r>
            <a:r>
              <a:rPr lang="en-US" altLang="zh-CN" b="1" dirty="0"/>
              <a:t>3385Gbps</a:t>
            </a:r>
            <a:r>
              <a:rPr lang="zh-CN" altLang="en-US" dirty="0"/>
              <a:t>，这与我们</a:t>
            </a:r>
            <a:r>
              <a:rPr lang="en-US" altLang="zh-CN" dirty="0"/>
              <a:t>100</a:t>
            </a:r>
            <a:r>
              <a:rPr lang="zh-CN" altLang="en-US" dirty="0"/>
              <a:t>个地面站的中位纬度高度吻合</a:t>
            </a:r>
            <a:r>
              <a:rPr lang="en-US" altLang="zh-CN" dirty="0"/>
              <a:t>——</a:t>
            </a:r>
          </a:p>
          <a:p>
            <a:endParaRPr lang="en-US" altLang="zh-CN" dirty="0"/>
          </a:p>
          <a:p>
            <a:r>
              <a:rPr lang="zh-CN" altLang="en-US" dirty="0"/>
              <a:t>卫星轨道正好扫过人口最密集的区域。当倾角增大到</a:t>
            </a:r>
            <a:r>
              <a:rPr lang="en-US" altLang="zh-CN" dirty="0"/>
              <a:t>80°</a:t>
            </a:r>
            <a:r>
              <a:rPr lang="zh-CN" altLang="en-US" dirty="0"/>
              <a:t>，大量卫星时间花在极地区域，而那里几乎没有地面站，吞吐骤降到</a:t>
            </a:r>
            <a:r>
              <a:rPr lang="en-US" altLang="zh-CN" dirty="0"/>
              <a:t>1990Gbps</a:t>
            </a:r>
            <a:r>
              <a:rPr lang="zh-CN" altLang="en-US" dirty="0"/>
              <a:t>，降幅</a:t>
            </a:r>
            <a:r>
              <a:rPr lang="en-US" altLang="zh-CN" dirty="0"/>
              <a:t>41%</a:t>
            </a:r>
            <a:r>
              <a:rPr lang="zh-CN" altLang="en-US" dirty="0"/>
              <a:t>。橙色虚线是流量满足率，趋势与吞吐一致。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E37919-6B8B-E6FB-7394-A5E5C79AB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628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7D64-F3A4-89A3-0144-F8BB9148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FC7F6A-C76D-0478-0726-529B652CD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7367D8-44EE-584D-7270-F01C43626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倾角还造成了方向性的路径质量差异。蓝色</a:t>
            </a:r>
            <a:r>
              <a:rPr lang="en-US" altLang="zh-CN" dirty="0"/>
              <a:t>NS Stretch</a:t>
            </a:r>
            <a:r>
              <a:rPr lang="zh-CN" altLang="en-US" dirty="0"/>
              <a:t>从</a:t>
            </a:r>
            <a:r>
              <a:rPr lang="en-US" altLang="zh-CN" dirty="0"/>
              <a:t>30°</a:t>
            </a:r>
            <a:r>
              <a:rPr lang="zh-CN" altLang="en-US" dirty="0"/>
              <a:t>的</a:t>
            </a:r>
            <a:r>
              <a:rPr lang="en-US" altLang="zh-CN" dirty="0"/>
              <a:t>3.7</a:t>
            </a:r>
            <a:r>
              <a:rPr lang="zh-CN" altLang="en-US" dirty="0"/>
              <a:t>骤降到</a:t>
            </a:r>
            <a:r>
              <a:rPr lang="en-US" altLang="zh-CN" dirty="0"/>
              <a:t>80°</a:t>
            </a:r>
            <a:r>
              <a:rPr lang="zh-CN" altLang="en-US" dirty="0"/>
              <a:t>的</a:t>
            </a:r>
            <a:r>
              <a:rPr lang="en-US" altLang="zh-CN" dirty="0"/>
              <a:t>1.2</a:t>
            </a:r>
            <a:r>
              <a:rPr lang="zh-CN" altLang="en-US" dirty="0"/>
              <a:t>，说明</a:t>
            </a:r>
            <a:r>
              <a:rPr lang="zh-CN" altLang="en-US" b="1" dirty="0"/>
              <a:t>高倾角极大改善了南北向路由</a:t>
            </a:r>
            <a:r>
              <a:rPr lang="en-US" altLang="zh-CN" dirty="0"/>
              <a:t>——</a:t>
            </a:r>
          </a:p>
          <a:p>
            <a:endParaRPr lang="en-US" altLang="zh-CN" dirty="0"/>
          </a:p>
          <a:p>
            <a:r>
              <a:rPr lang="zh-CN" altLang="en-US" dirty="0"/>
              <a:t>卫星轨道近乎南北走向，</a:t>
            </a:r>
            <a:r>
              <a:rPr lang="en-US" altLang="zh-CN" dirty="0"/>
              <a:t>NS</a:t>
            </a:r>
            <a:r>
              <a:rPr lang="zh-CN" altLang="en-US" dirty="0"/>
              <a:t>路由可以沿轨道直飞。但橙色</a:t>
            </a:r>
            <a:r>
              <a:rPr lang="en-US" altLang="zh-CN" dirty="0"/>
              <a:t>EW Stretch</a:t>
            </a:r>
            <a:r>
              <a:rPr lang="zh-CN" altLang="en-US" dirty="0"/>
              <a:t>从</a:t>
            </a:r>
            <a:r>
              <a:rPr lang="en-US" altLang="zh-CN" dirty="0"/>
              <a:t>1.2</a:t>
            </a:r>
            <a:r>
              <a:rPr lang="zh-CN" altLang="en-US" dirty="0"/>
              <a:t>上升到</a:t>
            </a:r>
            <a:r>
              <a:rPr lang="en-US" altLang="zh-CN" dirty="0"/>
              <a:t>2.0</a:t>
            </a:r>
            <a:r>
              <a:rPr lang="zh-CN" altLang="en-US" dirty="0"/>
              <a:t>，东西向路由反而变差。绿色</a:t>
            </a:r>
            <a:r>
              <a:rPr lang="en-US" altLang="zh-CN" dirty="0"/>
              <a:t>NESW</a:t>
            </a:r>
            <a:r>
              <a:rPr lang="zh-CN" altLang="en-US" dirty="0"/>
              <a:t>居中。这说明：改善</a:t>
            </a:r>
            <a:r>
              <a:rPr lang="en-US" altLang="zh-CN" dirty="0"/>
              <a:t>NS</a:t>
            </a:r>
            <a:r>
              <a:rPr lang="zh-CN" altLang="en-US" dirty="0"/>
              <a:t>必然牺牲</a:t>
            </a:r>
            <a:r>
              <a:rPr lang="en-US" altLang="zh-CN" dirty="0"/>
              <a:t>EW</a:t>
            </a:r>
            <a:r>
              <a:rPr lang="zh-CN" altLang="en-US" dirty="0"/>
              <a:t>，没有全局最优，只有场景最优。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2E72A0-988D-EF2A-DC27-E3539F1FB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04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78548-E044-1704-6FDA-501E4085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1A9BA1-A24C-C0B0-CE5D-D06D8E9F4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2DA001-9526-7131-91D4-39ACAF3B7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现在对比单层和多层两种架构。这两种架构的示意如图所示。左图是总吞吐量：橙色的单层密集</a:t>
            </a:r>
            <a:r>
              <a:rPr lang="en-US" altLang="zh-CN" dirty="0"/>
              <a:t>2806Gbps</a:t>
            </a:r>
            <a:r>
              <a:rPr lang="zh-CN" altLang="en-US" dirty="0"/>
              <a:t>，比蓝色的多层分离</a:t>
            </a:r>
            <a:r>
              <a:rPr lang="en-US" altLang="zh-CN" dirty="0"/>
              <a:t>2642Gbps</a:t>
            </a:r>
            <a:r>
              <a:rPr lang="zh-CN" altLang="en-US" dirty="0"/>
              <a:t>高</a:t>
            </a:r>
            <a:r>
              <a:rPr lang="en-US" altLang="zh-CN" dirty="0"/>
              <a:t>6%</a:t>
            </a:r>
            <a:r>
              <a:rPr lang="zh-CN" altLang="en-US" dirty="0"/>
              <a:t>。但右图翻转了</a:t>
            </a:r>
            <a:r>
              <a:rPr lang="en-US" altLang="zh-CN" dirty="0"/>
              <a:t>——</a:t>
            </a:r>
            <a:r>
              <a:rPr lang="zh-CN" altLang="en-US" dirty="0"/>
              <a:t>多层分离的流量满足率</a:t>
            </a:r>
            <a:r>
              <a:rPr lang="en-US" altLang="zh-CN" dirty="0"/>
              <a:t>17.1%</a:t>
            </a:r>
            <a:r>
              <a:rPr lang="zh-CN" altLang="en-US" dirty="0"/>
              <a:t>，高于单层的</a:t>
            </a:r>
            <a:r>
              <a:rPr lang="en-US" altLang="zh-CN" dirty="0"/>
              <a:t>15.1%</a:t>
            </a:r>
            <a:r>
              <a:rPr lang="zh-CN" altLang="en-US" dirty="0"/>
              <a:t>。</a:t>
            </a:r>
            <a:r>
              <a:rPr lang="zh-CN" altLang="en-US" b="1" dirty="0"/>
              <a:t>看似矛盾，实则揭示了不同优化目标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单层密集</a:t>
            </a:r>
            <a:r>
              <a:rPr lang="en-US" altLang="zh-CN" dirty="0"/>
              <a:t>mesh</a:t>
            </a:r>
            <a:r>
              <a:rPr lang="zh-CN" altLang="en-US" dirty="0"/>
              <a:t>提供了更强的路径多样性，能承载更大总带宽；但多层分离减少了同层内链路竞争，让更多流被满足。这是吞吐总量与流公平性的权衡。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CC02F-1BF7-16B4-B39D-854D787B1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423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766A-5614-E422-9ED6-F8EF2AC4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78B0DF-7A08-C5EA-8940-BC6352380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394037-ED9C-4303-448A-2F495C5CE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从路径质量看，左组柱的多层分离在几乎所有指标上都更优。左图</a:t>
            </a:r>
            <a:r>
              <a:rPr lang="en-US" altLang="zh-CN" dirty="0"/>
              <a:t>Stretch</a:t>
            </a:r>
            <a:r>
              <a:rPr lang="zh-CN" altLang="en-US" dirty="0"/>
              <a:t>中，</a:t>
            </a:r>
            <a:r>
              <a:rPr lang="en-US" altLang="zh-CN" dirty="0"/>
              <a:t>NS</a:t>
            </a:r>
            <a:r>
              <a:rPr lang="zh-CN" altLang="en-US" dirty="0"/>
              <a:t>从</a:t>
            </a:r>
            <a:r>
              <a:rPr lang="en-US" altLang="zh-CN" dirty="0"/>
              <a:t>1.87</a:t>
            </a:r>
            <a:r>
              <a:rPr lang="zh-CN" altLang="en-US" dirty="0"/>
              <a:t>降到</a:t>
            </a:r>
            <a:r>
              <a:rPr lang="en-US" altLang="zh-CN" dirty="0"/>
              <a:t>1.42</a:t>
            </a:r>
            <a:r>
              <a:rPr lang="zh-CN" altLang="en-US" dirty="0"/>
              <a:t>，</a:t>
            </a:r>
            <a:r>
              <a:rPr lang="en-US" altLang="zh-CN" dirty="0"/>
              <a:t>EW</a:t>
            </a:r>
            <a:r>
              <a:rPr lang="zh-CN" altLang="en-US" dirty="0"/>
              <a:t>从</a:t>
            </a:r>
            <a:r>
              <a:rPr lang="en-US" altLang="zh-CN" dirty="0"/>
              <a:t>1.65</a:t>
            </a:r>
            <a:r>
              <a:rPr lang="zh-CN" altLang="en-US" dirty="0"/>
              <a:t>降到</a:t>
            </a:r>
            <a:r>
              <a:rPr lang="en-US" altLang="zh-CN" dirty="0"/>
              <a:t>1.32</a:t>
            </a:r>
            <a:r>
              <a:rPr lang="zh-CN" altLang="en-US" dirty="0"/>
              <a:t>，</a:t>
            </a:r>
            <a:r>
              <a:rPr lang="en-US" altLang="zh-CN" dirty="0"/>
              <a:t>HG</a:t>
            </a:r>
            <a:r>
              <a:rPr lang="zh-CN" altLang="en-US" dirty="0"/>
              <a:t>从</a:t>
            </a:r>
            <a:r>
              <a:rPr lang="en-US" altLang="zh-CN" dirty="0"/>
              <a:t>1.26</a:t>
            </a:r>
            <a:r>
              <a:rPr lang="zh-CN" altLang="en-US" dirty="0"/>
              <a:t>降到</a:t>
            </a:r>
            <a:r>
              <a:rPr lang="en-US" altLang="zh-CN" dirty="0"/>
              <a:t>1.22</a:t>
            </a:r>
            <a:r>
              <a:rPr lang="zh-CN" altLang="en-US" dirty="0"/>
              <a:t>。右图</a:t>
            </a:r>
            <a:r>
              <a:rPr lang="en-US" altLang="zh-CN" dirty="0" err="1"/>
              <a:t>HopCount</a:t>
            </a:r>
            <a:r>
              <a:rPr lang="zh-CN" altLang="en-US" dirty="0"/>
              <a:t>中，</a:t>
            </a:r>
            <a:r>
              <a:rPr lang="en-US" altLang="zh-CN" dirty="0"/>
              <a:t>NS</a:t>
            </a:r>
            <a:r>
              <a:rPr lang="zh-CN" altLang="en-US" dirty="0"/>
              <a:t>和</a:t>
            </a:r>
            <a:r>
              <a:rPr lang="en-US" altLang="zh-CN" dirty="0"/>
              <a:t>EW</a:t>
            </a:r>
            <a:r>
              <a:rPr lang="zh-CN" altLang="en-US" dirty="0"/>
              <a:t>从</a:t>
            </a:r>
            <a:r>
              <a:rPr lang="en-US" altLang="zh-CN" dirty="0"/>
              <a:t>8</a:t>
            </a:r>
            <a:r>
              <a:rPr lang="zh-CN" altLang="en-US" dirty="0"/>
              <a:t>降到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HG</a:t>
            </a:r>
            <a:r>
              <a:rPr lang="zh-CN" altLang="en-US" dirty="0"/>
              <a:t>从</a:t>
            </a:r>
            <a:r>
              <a:rPr lang="en-US" altLang="zh-CN" dirty="0"/>
              <a:t>12</a:t>
            </a:r>
            <a:r>
              <a:rPr lang="zh-CN" altLang="en-US" dirty="0"/>
              <a:t>降到</a:t>
            </a:r>
            <a:r>
              <a:rPr lang="en-US" altLang="zh-CN" dirty="0"/>
              <a:t>11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因为多层把卫星分散到不同壳层，减少了同层内链路竞争，路由选择更自由。总的来说，</a:t>
            </a:r>
            <a:r>
              <a:rPr lang="en-US" altLang="zh-CN" dirty="0"/>
              <a:t>	</a:t>
            </a:r>
            <a:r>
              <a:rPr lang="zh-CN" altLang="en-US" b="0" dirty="0"/>
              <a:t>单层</a:t>
            </a:r>
            <a:r>
              <a:rPr lang="zh-CN" altLang="en-US" dirty="0">
                <a:solidFill>
                  <a:srgbClr val="FF0000"/>
                </a:solidFill>
              </a:rPr>
              <a:t>总吞吐更高，</a:t>
            </a:r>
            <a:r>
              <a:rPr lang="zh-CN" altLang="zh-CN" dirty="0"/>
              <a:t>适合短距高频业务</a:t>
            </a:r>
            <a:r>
              <a:rPr lang="zh-CN" altLang="en-US" b="0" dirty="0"/>
              <a:t>，多层</a:t>
            </a:r>
            <a:r>
              <a:rPr lang="zh-CN" altLang="zh-CN" dirty="0"/>
              <a:t>长途跳数少</a:t>
            </a:r>
            <a:r>
              <a:rPr lang="zh-CN" altLang="en-US" dirty="0"/>
              <a:t>且</a:t>
            </a:r>
            <a:r>
              <a:rPr lang="zh-CN" altLang="zh-CN" dirty="0"/>
              <a:t>Stretch 低</a:t>
            </a:r>
            <a:r>
              <a:rPr lang="zh-CN" altLang="en-US" dirty="0"/>
              <a:t>，更</a:t>
            </a:r>
            <a:r>
              <a:rPr lang="zh-CN" altLang="zh-CN" dirty="0"/>
              <a:t>适合长距业务</a:t>
            </a:r>
            <a:r>
              <a:rPr lang="zh-CN" altLang="en-US" b="0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3CDEF2-9F60-97BE-4A43-C11B40495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612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50ED-A16B-AE64-B2EF-EA825DA1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22732D-6B70-780D-EB22-216FA63F4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B8D402-4020-DDB7-F6E0-D8CB2F9B5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LEO</a:t>
            </a:r>
            <a:r>
              <a:rPr lang="zh-CN" altLang="en-US" dirty="0"/>
              <a:t>卫星以</a:t>
            </a:r>
            <a:r>
              <a:rPr lang="en-US" altLang="zh-CN" dirty="0"/>
              <a:t>27,000km/h</a:t>
            </a:r>
            <a:r>
              <a:rPr lang="zh-CN" altLang="en-US" dirty="0"/>
              <a:t>飞行，网络拓扑持续变化。图中圈起来的地方展示了</a:t>
            </a:r>
            <a:r>
              <a:rPr lang="en-US" altLang="zh-CN" dirty="0"/>
              <a:t>24</a:t>
            </a:r>
            <a:r>
              <a:rPr lang="zh-CN" altLang="en-US" dirty="0"/>
              <a:t>小时内两个相同地面站的连接变化情况，从这里便可见一斑。因此我们需要验证时变稳定性。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上图是</a:t>
            </a:r>
            <a:r>
              <a:rPr lang="en-US" altLang="zh-CN" dirty="0"/>
              <a:t>24</a:t>
            </a:r>
            <a:r>
              <a:rPr lang="zh-CN" altLang="en-US" dirty="0"/>
              <a:t>小时吞吐量：最低</a:t>
            </a:r>
            <a:r>
              <a:rPr lang="en-US" altLang="zh-CN" dirty="0"/>
              <a:t>2726Gbps</a:t>
            </a:r>
            <a:r>
              <a:rPr lang="zh-CN" altLang="en-US" dirty="0"/>
              <a:t>，最高</a:t>
            </a:r>
            <a:r>
              <a:rPr lang="en-US" altLang="zh-CN" dirty="0"/>
              <a:t>2859Gbps</a:t>
            </a:r>
            <a:r>
              <a:rPr lang="zh-CN" altLang="en-US" dirty="0"/>
              <a:t>，均值</a:t>
            </a:r>
            <a:r>
              <a:rPr lang="en-US" altLang="zh-CN" dirty="0"/>
              <a:t>2803Gbps</a:t>
            </a:r>
            <a:r>
              <a:rPr lang="zh-CN" altLang="en-US" dirty="0"/>
              <a:t>，</a:t>
            </a:r>
            <a:r>
              <a:rPr lang="zh-CN" altLang="en-US" b="1" dirty="0"/>
              <a:t>波动仅</a:t>
            </a:r>
            <a:r>
              <a:rPr lang="en-US" altLang="zh-CN" b="1" dirty="0"/>
              <a:t>±2.4%</a:t>
            </a:r>
            <a:r>
              <a:rPr lang="zh-CN" altLang="en-US" dirty="0"/>
              <a:t>。下图</a:t>
            </a:r>
            <a:r>
              <a:rPr lang="en-US" altLang="zh-CN" dirty="0"/>
              <a:t>NS Stretch</a:t>
            </a:r>
            <a:r>
              <a:rPr lang="zh-CN" altLang="en-US" dirty="0"/>
              <a:t>在</a:t>
            </a:r>
            <a:r>
              <a:rPr lang="en-US" altLang="zh-CN" dirty="0"/>
              <a:t>1.83</a:t>
            </a:r>
            <a:r>
              <a:rPr lang="zh-CN" altLang="en-US" dirty="0"/>
              <a:t>到</a:t>
            </a:r>
            <a:r>
              <a:rPr lang="en-US" altLang="zh-CN" dirty="0"/>
              <a:t>1.94</a:t>
            </a:r>
            <a:r>
              <a:rPr lang="zh-CN" altLang="en-US" dirty="0"/>
              <a:t>之间小幅震荡。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这说明虽然每颗卫星的位置在变，但由于星座的周期性和对称性，</a:t>
            </a:r>
            <a:r>
              <a:rPr lang="zh-CN" altLang="en-US" b="1" dirty="0"/>
              <a:t>整体网络性能非常稳定</a:t>
            </a:r>
            <a:r>
              <a:rPr lang="zh-CN" altLang="en-US" dirty="0"/>
              <a:t>，</a:t>
            </a:r>
            <a:r>
              <a:rPr lang="en-US" altLang="zh-CN" dirty="0"/>
              <a:t>LEO</a:t>
            </a:r>
            <a:r>
              <a:rPr lang="zh-CN" altLang="en-US" dirty="0"/>
              <a:t>动力学导致的波动有限而可控。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6E35B4-B581-AA0C-19BA-289E1006E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438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505C-AF36-5828-15F6-4636C648D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B6790C-D931-BFD5-E366-2E212CD81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EE3B4E-333A-9513-A2A5-EE6C2750E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最后验证不同流量指标。三种</a:t>
            </a:r>
            <a:r>
              <a:rPr lang="en-US" altLang="zh-CN" dirty="0"/>
              <a:t>TM</a:t>
            </a:r>
            <a:r>
              <a:rPr lang="zh-CN" altLang="en-US" dirty="0"/>
              <a:t>的吞吐排序如图，基于</a:t>
            </a:r>
            <a:r>
              <a:rPr lang="en-US" altLang="zh-CN" dirty="0"/>
              <a:t>233</a:t>
            </a:r>
            <a:r>
              <a:rPr lang="zh-CN" altLang="en-US" dirty="0"/>
              <a:t>国首都的流量指标最高，有</a:t>
            </a:r>
            <a:r>
              <a:rPr lang="en-US" altLang="zh-CN" dirty="0"/>
              <a:t>3564Gbps</a:t>
            </a:r>
            <a:r>
              <a:rPr lang="zh-CN" altLang="en-US" dirty="0"/>
              <a:t>，比</a:t>
            </a:r>
            <a:r>
              <a:rPr lang="en-US" altLang="zh-CN" dirty="0"/>
              <a:t>100</a:t>
            </a:r>
            <a:r>
              <a:rPr lang="zh-CN" altLang="en-US" dirty="0"/>
              <a:t>人口密集城市的</a:t>
            </a:r>
            <a:r>
              <a:rPr lang="en-US" altLang="zh-CN" dirty="0"/>
              <a:t>2806Gbps</a:t>
            </a:r>
            <a:r>
              <a:rPr lang="zh-CN" altLang="en-US" dirty="0"/>
              <a:t>高出</a:t>
            </a:r>
            <a:r>
              <a:rPr lang="en-US" altLang="zh-CN" dirty="0"/>
              <a:t>27%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因为首都矩阵的</a:t>
            </a:r>
            <a:r>
              <a:rPr lang="en-US" altLang="zh-CN" dirty="0"/>
              <a:t>233</a:t>
            </a:r>
            <a:r>
              <a:rPr lang="zh-CN" altLang="en-US" dirty="0"/>
              <a:t>个地面站分布更稀疏、热点聚集更弱，流量在更多链路上展开，拥塞更少。</a:t>
            </a:r>
            <a:r>
              <a:rPr lang="en-US" altLang="zh-CN" dirty="0"/>
              <a:t>High-GDP</a:t>
            </a:r>
            <a:r>
              <a:rPr lang="zh-CN" altLang="en-US" dirty="0"/>
              <a:t>与</a:t>
            </a:r>
            <a:r>
              <a:rPr lang="en-US" altLang="zh-CN" dirty="0"/>
              <a:t>High-Pop</a:t>
            </a:r>
            <a:r>
              <a:rPr lang="zh-CN" altLang="en-US" dirty="0"/>
              <a:t>几乎持平（</a:t>
            </a:r>
            <a:r>
              <a:rPr lang="en-US" altLang="zh-CN" dirty="0"/>
              <a:t>2789 vs 2806</a:t>
            </a:r>
            <a:r>
              <a:rPr lang="zh-CN" altLang="en-US" dirty="0"/>
              <a:t>），说明</a:t>
            </a:r>
            <a:r>
              <a:rPr lang="en-US" altLang="zh-CN" dirty="0"/>
              <a:t>GDP</a:t>
            </a:r>
            <a:r>
              <a:rPr lang="zh-CN" altLang="en-US" dirty="0"/>
              <a:t>权重对人口密集城市的流量分布影响有限。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84EBA6-A84F-1F54-851F-3E1EAA566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486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D6D3-EF62-0827-A838-2437B6B7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CA76B6-6CE2-87B6-7C63-147596922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889C35-5B97-8CD5-499E-B6E584FD5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接下来从拥塞侧验证上述结论。上图是活跃</a:t>
            </a:r>
            <a:r>
              <a:rPr lang="en-US" altLang="zh-CN" dirty="0"/>
              <a:t>ISL</a:t>
            </a:r>
            <a:r>
              <a:rPr lang="zh-CN" altLang="en-US" dirty="0"/>
              <a:t>数量：</a:t>
            </a:r>
            <a:r>
              <a:rPr lang="en-US" altLang="zh-CN" dirty="0"/>
              <a:t>Country-Capital</a:t>
            </a:r>
            <a:r>
              <a:rPr lang="zh-CN" altLang="en-US" dirty="0"/>
              <a:t>使用了</a:t>
            </a:r>
            <a:r>
              <a:rPr lang="en-US" altLang="zh-CN" dirty="0"/>
              <a:t>2867</a:t>
            </a:r>
            <a:r>
              <a:rPr lang="zh-CN" altLang="en-US" dirty="0"/>
              <a:t>条，远高于</a:t>
            </a:r>
            <a:r>
              <a:rPr lang="en-US" altLang="zh-CN" dirty="0"/>
              <a:t>High-Pop</a:t>
            </a:r>
            <a:r>
              <a:rPr lang="zh-CN" altLang="en-US" dirty="0"/>
              <a:t>的</a:t>
            </a:r>
            <a:r>
              <a:rPr lang="en-US" altLang="zh-CN" dirty="0"/>
              <a:t>1797</a:t>
            </a:r>
            <a:r>
              <a:rPr lang="zh-CN" altLang="en-US" dirty="0"/>
              <a:t>条</a:t>
            </a:r>
            <a:r>
              <a:rPr lang="en-US" altLang="zh-CN" dirty="0"/>
              <a:t>——</a:t>
            </a:r>
          </a:p>
          <a:p>
            <a:endParaRPr lang="en-US" altLang="zh-CN" b="1" dirty="0"/>
          </a:p>
          <a:p>
            <a:r>
              <a:rPr lang="zh-CN" altLang="en-US" b="1" dirty="0"/>
              <a:t>流量在更多链路上展开，负载更均衡</a:t>
            </a:r>
            <a:r>
              <a:rPr lang="zh-CN" altLang="en-US" dirty="0"/>
              <a:t>。下图是利用率分布：三种</a:t>
            </a:r>
            <a:r>
              <a:rPr lang="en-US" altLang="zh-CN" dirty="0"/>
              <a:t>TM</a:t>
            </a:r>
            <a:r>
              <a:rPr lang="zh-CN" altLang="en-US" dirty="0"/>
              <a:t>的低利用率链路都占主导，超过</a:t>
            </a:r>
            <a:r>
              <a:rPr lang="en-US" altLang="zh-CN" dirty="0"/>
              <a:t>80%</a:t>
            </a:r>
            <a:r>
              <a:rPr lang="zh-CN" altLang="en-US" dirty="0"/>
              <a:t>，但</a:t>
            </a:r>
            <a:r>
              <a:rPr lang="en-US" altLang="zh-CN" dirty="0"/>
              <a:t>Country-Capital</a:t>
            </a:r>
            <a:r>
              <a:rPr lang="zh-CN" altLang="en-US" dirty="0"/>
              <a:t>的</a:t>
            </a:r>
            <a:r>
              <a:rPr lang="en-US" altLang="zh-CN" dirty="0"/>
              <a:t>Medium</a:t>
            </a:r>
            <a:r>
              <a:rPr lang="zh-CN" altLang="en-US" dirty="0"/>
              <a:t>比例更高，说明其链路利用更充分。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模拟得到的原始数据中还显示，</a:t>
            </a:r>
            <a:r>
              <a:rPr lang="en-US" altLang="zh-CN" dirty="0"/>
              <a:t>Country-Capital</a:t>
            </a:r>
            <a:r>
              <a:rPr lang="zh-CN" altLang="en-US" dirty="0"/>
              <a:t>的最大利用率仅</a:t>
            </a:r>
            <a:r>
              <a:rPr lang="en-US" altLang="zh-CN" dirty="0"/>
              <a:t>60.1%</a:t>
            </a:r>
            <a:r>
              <a:rPr lang="zh-CN" altLang="en-US" dirty="0"/>
              <a:t>，低于另外两者，</a:t>
            </a:r>
            <a:r>
              <a:rPr lang="zh-CN" altLang="en-US" b="1" dirty="0"/>
              <a:t>证实其并非更易拥塞，而是负载更分散</a:t>
            </a:r>
            <a:r>
              <a:rPr lang="zh-CN" altLang="en-US" dirty="0"/>
              <a:t>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68EA56-246A-9337-E953-1FF160FC0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667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EE39-EE30-F70C-08C2-89ECEAE82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EF74E1-3DDC-6956-71B0-91D4F4167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225081-E8A9-75F4-9E05-321DE32FA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验证结论总结：四个核心结论都和论文中一致。高度倒</a:t>
            </a:r>
            <a:r>
              <a:rPr lang="en-US" altLang="zh-CN" dirty="0"/>
              <a:t>U</a:t>
            </a:r>
            <a:r>
              <a:rPr lang="zh-CN" altLang="en-US" dirty="0"/>
              <a:t>型、倾角</a:t>
            </a:r>
            <a:r>
              <a:rPr lang="en-US" altLang="zh-CN" dirty="0"/>
              <a:t>40°</a:t>
            </a:r>
            <a:r>
              <a:rPr lang="zh-CN" altLang="en-US" dirty="0"/>
              <a:t>峰值、架构权衡、时变稳定性、</a:t>
            </a:r>
            <a:r>
              <a:rPr lang="en-US" altLang="zh-CN" dirty="0"/>
              <a:t>TM</a:t>
            </a:r>
            <a:r>
              <a:rPr lang="zh-CN" altLang="en-US" dirty="0"/>
              <a:t>排序均与论文一致。综上，</a:t>
            </a:r>
            <a:r>
              <a:rPr lang="en-US" altLang="zh-CN" dirty="0" err="1"/>
              <a:t>LEOCraft</a:t>
            </a:r>
            <a:r>
              <a:rPr lang="zh-CN" altLang="en-US" dirty="0"/>
              <a:t>作为</a:t>
            </a:r>
            <a:r>
              <a:rPr lang="en-US" altLang="zh-CN" dirty="0"/>
              <a:t>LEO</a:t>
            </a:r>
            <a:r>
              <a:rPr lang="zh-CN" altLang="en-US" dirty="0"/>
              <a:t>星座架构评估方案的有效性得到了充分验证。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B00476-0D57-467F-B322-118DF5690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389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6A969-586C-B044-B4FE-E0274ACED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E16800-3810-B53C-B3EF-4EB9A05DD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3B60A5-6DB9-DF39-BBD2-0BBD14800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最后讨论不足之处。</a:t>
            </a:r>
            <a:r>
              <a:rPr lang="zh-CN" altLang="zh-CN" b="0" dirty="0"/>
              <a:t>首先是本实验的简化假设</a:t>
            </a:r>
            <a:r>
              <a:rPr lang="zh-CN" altLang="zh-CN" dirty="0"/>
              <a:t>：我们未建模卫星间的干扰，包括频率复用、相控阵波束成形和邻星干扰。ISL容量固定为50Gbps，未考虑实际激光链路的动态衰减和自适应速率。路由采用集中式线性规划最优解，而非星上分布式协议如OSPF或SDN控制。</a:t>
            </a:r>
            <a:endParaRPr lang="en-US" altLang="zh-CN" dirty="0"/>
          </a:p>
          <a:p>
            <a:endParaRPr lang="en-US" altLang="zh-CN" b="0" dirty="0"/>
          </a:p>
          <a:p>
            <a:r>
              <a:rPr lang="zh-CN" altLang="en-US" b="0" dirty="0"/>
              <a:t>然后</a:t>
            </a:r>
            <a:r>
              <a:rPr lang="zh-CN" altLang="zh-CN" b="0" dirty="0"/>
              <a:t>是论文框架本身的局限</a:t>
            </a:r>
            <a:r>
              <a:rPr lang="zh-CN" altLang="zh-CN" dirty="0"/>
              <a:t>：LEOCraft目前仅支持Walker Delta构型，即轨道均匀分布在赤道两侧，而OneWeb等运营商使用的Walker Star极地构型尚未覆盖。流级仿真在架构评估上高效，但无法捕捉包级行为——如TCP拥塞控制对RTT波动的反应、重传超时、包乱序等。此外，当前优化器仅支持单目标，实际运营商需要吞吐、延迟、覆盖、成本的多目标权衡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3389EA-616A-CB21-9802-23AB1A912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31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我的汇报完毕，谢谢大家！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597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149566"/>
            <a:ext cx="78867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8650" y="5114029"/>
            <a:ext cx="7886700" cy="604299"/>
          </a:xfrm>
        </p:spPr>
        <p:txBody>
          <a:bodyPr anchor="ctr">
            <a:noAutofit/>
          </a:bodyPr>
          <a:lstStyle>
            <a:lvl1pPr algn="ctr"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/>
              <a:t>单击以编辑母版副标题样式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489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50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600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8697600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745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8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4CE0C3C-47D3-4455-AB34-8268314DB49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748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9144000" cy="1036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93" y="6100771"/>
            <a:ext cx="1958547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56">
          <p15:clr>
            <a:srgbClr val="FBAE40"/>
          </p15:clr>
        </p15:guide>
        <p15:guide id="2" pos="204">
          <p15:clr>
            <a:srgbClr val="FBAE40"/>
          </p15:clr>
        </p15:guide>
        <p15:guide id="5" pos="3125">
          <p15:clr>
            <a:srgbClr val="FBAE40"/>
          </p15:clr>
        </p15:guide>
        <p15:guide id="6" pos="115">
          <p15:clr>
            <a:srgbClr val="FBAE40"/>
          </p15:clr>
        </p15:guide>
        <p15:guide id="7" pos="4167" userDrawn="1">
          <p15:clr>
            <a:srgbClr val="FBAE40"/>
          </p15:clr>
        </p15:guide>
        <p15:guide id="8" pos="15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658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8696565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619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330335"/>
      </p:ext>
    </p:extLst>
  </p:cSld>
  <p:clrMapOvr>
    <a:masterClrMapping/>
  </p:clrMapOvr>
  <p:transition spd="med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35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232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6644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02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475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06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123" y="4006448"/>
            <a:ext cx="8325019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469124" y="5245246"/>
            <a:ext cx="5820358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124" y="5815087"/>
            <a:ext cx="4159250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单击此处添加日期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11" name="直接连接符 10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 userDrawn="1"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06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9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16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74" y="3608990"/>
            <a:ext cx="3021843" cy="7999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7896" y="1371600"/>
            <a:ext cx="8410492" cy="926932"/>
          </a:xfrm>
        </p:spPr>
        <p:txBody>
          <a:bodyPr>
            <a:noAutofit/>
          </a:bodyPr>
          <a:lstStyle>
            <a:lvl1pPr algn="ctr"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13468" y="1673352"/>
            <a:ext cx="8340421" cy="4999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413468" y="863020"/>
            <a:ext cx="8410492" cy="701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3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ransition spd="med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69124" y="4080223"/>
            <a:ext cx="8325019" cy="1114192"/>
          </a:xfrm>
        </p:spPr>
        <p:txBody>
          <a:bodyPr/>
          <a:lstStyle/>
          <a:p>
            <a:pPr>
              <a:lnSpc>
                <a:spcPts val="4000"/>
              </a:lnSpc>
            </a:pPr>
            <a:r>
              <a:rPr lang="en-US" altLang="zh-CN" sz="3200" dirty="0" err="1"/>
              <a:t>LEOCraft</a:t>
            </a:r>
            <a:r>
              <a:rPr lang="en-US" altLang="zh-CN" sz="3200" dirty="0"/>
              <a:t> </a:t>
            </a:r>
            <a:r>
              <a:rPr lang="zh-CN" altLang="en-US" sz="3200" dirty="0"/>
              <a:t>架构评估方案验证：</a:t>
            </a:r>
            <a:br>
              <a:rPr lang="en-US" altLang="zh-CN" sz="3200" dirty="0"/>
            </a:br>
            <a:r>
              <a:rPr lang="zh-CN" altLang="en-US" sz="3200" dirty="0"/>
              <a:t>合成星座仿真实验</a:t>
            </a:r>
            <a:endParaRPr lang="zh-CN" altLang="en-US" sz="1800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469124" y="5326384"/>
            <a:ext cx="5820358" cy="468179"/>
          </a:xfrm>
        </p:spPr>
        <p:txBody>
          <a:bodyPr/>
          <a:lstStyle/>
          <a:p>
            <a:r>
              <a:rPr lang="zh-CN" altLang="en-US" dirty="0"/>
              <a:t>王椤贇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69124" y="5872237"/>
            <a:ext cx="4159250" cy="499004"/>
          </a:xfrm>
        </p:spPr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049770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691441" y="4881314"/>
            <a:ext cx="5761117" cy="492149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USENIX ATC 2025.7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论文题目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6EA3B2-4AB7-77B1-01A2-9007B119D417}"/>
              </a:ext>
            </a:extLst>
          </p:cNvPr>
          <p:cNvSpPr txBox="1"/>
          <p:nvPr/>
        </p:nvSpPr>
        <p:spPr>
          <a:xfrm>
            <a:off x="266696" y="2075400"/>
            <a:ext cx="882681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LEOCraft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towards designing performant LEO networks</a:t>
            </a:r>
          </a:p>
          <a:p>
            <a:pPr algn="ctr"/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Suvam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Basak,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Amitangshu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Pal, and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Debopam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Bhattacherjee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5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4C6F-267F-2E02-5319-1C399FB3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1858582-AE54-20C2-FA29-DFFAFEF68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64" y="2242325"/>
            <a:ext cx="4209036" cy="4338878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060653C-F537-8C4B-05FA-B8DDF5A9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论文简介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32948E-1DC3-1840-D481-528B4663DD02}"/>
              </a:ext>
            </a:extLst>
          </p:cNvPr>
          <p:cNvSpPr txBox="1"/>
          <p:nvPr/>
        </p:nvSpPr>
        <p:spPr>
          <a:xfrm>
            <a:off x="4730710" y="3125467"/>
            <a:ext cx="4050326" cy="275825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LEO </a:t>
            </a:r>
            <a:r>
              <a:rPr lang="zh-CN" altLang="en-US" sz="2200" b="1" dirty="0"/>
              <a:t>星座生成器</a:t>
            </a:r>
            <a:r>
              <a:rPr lang="zh-CN" altLang="en-US" sz="2200" dirty="0"/>
              <a:t>：根据参数生成星座实例（卫星、地面站、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ISL/GSL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endParaRPr lang="zh-CN" altLang="en-US" sz="2200" dirty="0"/>
          </a:p>
          <a:p>
            <a: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zh-CN" altLang="en-US" sz="2200" b="1" dirty="0"/>
              <a:t>任务队列</a:t>
            </a:r>
            <a:r>
              <a:rPr lang="en-US" altLang="zh-CN" sz="2200" b="1" dirty="0"/>
              <a:t>+</a:t>
            </a:r>
            <a:r>
              <a:rPr lang="zh-CN" altLang="en-US" sz="2200" b="1" dirty="0"/>
              <a:t>进程池执行器</a:t>
            </a:r>
            <a:r>
              <a:rPr lang="zh-CN" altLang="en-US" sz="2200" dirty="0"/>
              <a:t>：多进程并行调度，绕过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GIL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8F0496-B3AB-E195-A782-ADB954FDE68E}"/>
              </a:ext>
            </a:extLst>
          </p:cNvPr>
          <p:cNvSpPr txBox="1"/>
          <p:nvPr/>
        </p:nvSpPr>
        <p:spPr>
          <a:xfrm>
            <a:off x="757494" y="1780660"/>
            <a:ext cx="762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LEOCraft</a:t>
            </a:r>
            <a:r>
              <a:rPr lang="zh-CN" altLang="en-US" sz="2400" dirty="0">
                <a:solidFill>
                  <a:srgbClr val="FF0000"/>
                </a:solidFill>
              </a:rPr>
              <a:t>：开源、模块化、可扩展的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星座仿真器</a:t>
            </a:r>
          </a:p>
        </p:txBody>
      </p:sp>
    </p:spTree>
    <p:extLst>
      <p:ext uri="{BB962C8B-B14F-4D97-AF65-F5344CB8AC3E}">
        <p14:creationId xmlns:p14="http://schemas.microsoft.com/office/powerpoint/2010/main" val="304113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9FE4B-8556-D80F-73F2-4B5111CF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893909-F8D8-C72A-1459-4E2DF6C3DDD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2065" y="1895101"/>
            <a:ext cx="8559868" cy="3928330"/>
          </a:xfrm>
          <a:ln w="19050">
            <a:noFill/>
          </a:ln>
        </p:spPr>
        <p:txBody>
          <a:bodyPr>
            <a:noAutofit/>
          </a:bodyPr>
          <a:lstStyle/>
          <a:p>
            <a:pPr marL="360000" indent="-360000">
              <a:buFont typeface="+mj-lt"/>
              <a:buAutoNum type="arabicPeriod"/>
            </a:pPr>
            <a:r>
              <a:rPr lang="zh-CN" altLang="en-US" sz="2200" dirty="0"/>
              <a:t>轨道参数（高度</a:t>
            </a:r>
            <a:r>
              <a:rPr lang="en-US" altLang="zh-CN" sz="2200" dirty="0"/>
              <a:t>/</a:t>
            </a:r>
            <a:r>
              <a:rPr lang="zh-CN" altLang="en-US" sz="2200" dirty="0"/>
              <a:t>倾角）变化引起性能可解释波动</a:t>
            </a:r>
            <a:endParaRPr lang="en-US" altLang="zh-CN" sz="2200" dirty="0"/>
          </a:p>
          <a:p>
            <a:pPr marL="457200" lvl="1" indent="0">
              <a:buNone/>
            </a:pPr>
            <a:r>
              <a:rPr lang="en-US" altLang="zh-CN" sz="2000" dirty="0"/>
              <a:t>	 </a:t>
            </a:r>
            <a:r>
              <a:rPr lang="zh-CN" altLang="zh-CN" sz="2000" dirty="0">
                <a:solidFill>
                  <a:srgbClr val="0070C0"/>
                </a:solidFill>
              </a:rPr>
              <a:t>单参数扫描，固定其他变量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marL="360000" indent="-360000">
              <a:buFont typeface="+mj-lt"/>
              <a:buAutoNum type="arabicPeriod"/>
            </a:pPr>
            <a:r>
              <a:rPr lang="zh-CN" altLang="en-US" sz="2200" dirty="0"/>
              <a:t>单层密集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</a:t>
            </a:r>
            <a:r>
              <a:rPr lang="zh-CN" altLang="en-US" sz="2200" dirty="0"/>
              <a:t>多层分离存在吞吐与路径质量权衡</a:t>
            </a:r>
            <a:endParaRPr lang="en-US" altLang="zh-CN" sz="2200" dirty="0"/>
          </a:p>
          <a:p>
            <a:pPr marL="457200" lvl="1" indent="0">
              <a:buNone/>
            </a:pPr>
            <a:r>
              <a:rPr lang="en-US" altLang="zh-CN" sz="2000" dirty="0"/>
              <a:t>	 </a:t>
            </a:r>
            <a:r>
              <a:rPr lang="zh-CN" altLang="zh-CN" sz="2000" dirty="0">
                <a:solidFill>
                  <a:srgbClr val="0070C0"/>
                </a:solidFill>
              </a:rPr>
              <a:t>同卫星预算下对比两种架构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marL="360000" indent="-360000">
              <a:buFont typeface="+mj-lt"/>
              <a:buAutoNum type="arabicPeriod"/>
            </a:pPr>
            <a:r>
              <a:rPr lang="zh-CN" altLang="en-US" sz="2200" dirty="0"/>
              <a:t>网络性能随时间演化波动但规律稳定（</a:t>
            </a:r>
            <a:r>
              <a:rPr lang="en-US" altLang="zh-CN" sz="2200" dirty="0"/>
              <a:t>±6.5%</a:t>
            </a:r>
            <a:r>
              <a:rPr lang="zh-CN" altLang="en-US" sz="2200" dirty="0"/>
              <a:t>以内）</a:t>
            </a:r>
            <a:endParaRPr lang="en-US" altLang="zh-CN" sz="2200" dirty="0"/>
          </a:p>
          <a:p>
            <a:pPr marL="457200" lvl="1" indent="0">
              <a:buNone/>
            </a:pPr>
            <a:r>
              <a:rPr lang="en-US" altLang="zh-CN" sz="2000" dirty="0"/>
              <a:t>	 </a:t>
            </a:r>
            <a:r>
              <a:rPr lang="zh-CN" altLang="zh-CN" sz="2000" dirty="0">
                <a:solidFill>
                  <a:srgbClr val="0070C0"/>
                </a:solidFill>
              </a:rPr>
              <a:t>24小时连续采样，2小时间隔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marL="360000" indent="-360000">
              <a:buFont typeface="+mj-lt"/>
              <a:buAutoNum type="arabicPeriod"/>
            </a:pP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Country_Capitals_TM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在</a:t>
            </a:r>
            <a:r>
              <a:rPr lang="zh-CN" altLang="en-US" sz="2200" dirty="0">
                <a:latin typeface="+mn-ea"/>
              </a:rPr>
              <a:t>流量指标分析中吞吐表现最优</a:t>
            </a:r>
            <a:endParaRPr lang="en-US" altLang="zh-CN" sz="2200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sz="2000" dirty="0"/>
              <a:t>	 </a:t>
            </a:r>
            <a:r>
              <a:rPr lang="zh-CN" altLang="zh-CN" sz="2000" dirty="0">
                <a:solidFill>
                  <a:srgbClr val="0070C0"/>
                </a:solidFill>
              </a:rPr>
              <a:t>三种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zh-CN" sz="2000" dirty="0">
                <a:solidFill>
                  <a:srgbClr val="0070C0"/>
                </a:solidFill>
              </a:rPr>
              <a:t>TM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zh-CN" sz="2000" dirty="0">
                <a:solidFill>
                  <a:srgbClr val="0070C0"/>
                </a:solidFill>
              </a:rPr>
              <a:t>独立仿真对比</a:t>
            </a:r>
            <a:endParaRPr lang="en-US" altLang="zh-CN" sz="2000" dirty="0">
              <a:solidFill>
                <a:srgbClr val="0070C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EAAE2BB-3838-978B-B1FD-719B4659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验证目标 </a:t>
            </a:r>
            <a:r>
              <a:rPr lang="en-US" altLang="zh-CN" dirty="0"/>
              <a:t>(</a:t>
            </a:r>
            <a:r>
              <a:rPr lang="zh-CN" altLang="en-US" dirty="0"/>
              <a:t>论文关键结论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BBE1545A-6EDD-E64F-FC83-613BBA1EC7BD}"/>
              </a:ext>
            </a:extLst>
          </p:cNvPr>
          <p:cNvSpPr txBox="1">
            <a:spLocks/>
          </p:cNvSpPr>
          <p:nvPr/>
        </p:nvSpPr>
        <p:spPr>
          <a:xfrm>
            <a:off x="279411" y="5823431"/>
            <a:ext cx="8585177" cy="681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实验采用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LEOCraft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的仿真架构系统进行模拟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8AEFBD5-B936-BE29-BC72-8C4CB80C8098}"/>
              </a:ext>
            </a:extLst>
          </p:cNvPr>
          <p:cNvCxnSpPr/>
          <p:nvPr/>
        </p:nvCxnSpPr>
        <p:spPr>
          <a:xfrm>
            <a:off x="827320" y="2606351"/>
            <a:ext cx="410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BE76C10-7707-53F9-AD44-A19DAF447B6C}"/>
              </a:ext>
            </a:extLst>
          </p:cNvPr>
          <p:cNvCxnSpPr/>
          <p:nvPr/>
        </p:nvCxnSpPr>
        <p:spPr>
          <a:xfrm>
            <a:off x="827320" y="3573624"/>
            <a:ext cx="410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F549329-3EAC-E74E-6F24-F9CCC5A87A1E}"/>
              </a:ext>
            </a:extLst>
          </p:cNvPr>
          <p:cNvCxnSpPr/>
          <p:nvPr/>
        </p:nvCxnSpPr>
        <p:spPr>
          <a:xfrm>
            <a:off x="827320" y="4519127"/>
            <a:ext cx="410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5C3FC09-7EB4-2ED0-2791-3B07D8C353A3}"/>
              </a:ext>
            </a:extLst>
          </p:cNvPr>
          <p:cNvCxnSpPr/>
          <p:nvPr/>
        </p:nvCxnSpPr>
        <p:spPr>
          <a:xfrm>
            <a:off x="827320" y="5477069"/>
            <a:ext cx="410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39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2369-A21F-51FE-8A87-4FD01EDA7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58AC558-86A6-2AF0-0F19-48C1F227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实验方法与环境配置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1B236AE-706F-234C-E99B-748EB06B0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838843"/>
              </p:ext>
            </p:extLst>
          </p:nvPr>
        </p:nvGraphicFramePr>
        <p:xfrm>
          <a:off x="212961" y="2960914"/>
          <a:ext cx="8714887" cy="33862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77662">
                  <a:extLst>
                    <a:ext uri="{9D8B030D-6E8A-4147-A177-3AD203B41FA5}">
                      <a16:colId xmlns:a16="http://schemas.microsoft.com/office/drawing/2014/main" val="3991918613"/>
                    </a:ext>
                  </a:extLst>
                </a:gridCol>
                <a:gridCol w="1500389">
                  <a:extLst>
                    <a:ext uri="{9D8B030D-6E8A-4147-A177-3AD203B41FA5}">
                      <a16:colId xmlns:a16="http://schemas.microsoft.com/office/drawing/2014/main" val="1276950794"/>
                    </a:ext>
                  </a:extLst>
                </a:gridCol>
                <a:gridCol w="1249250">
                  <a:extLst>
                    <a:ext uri="{9D8B030D-6E8A-4147-A177-3AD203B41FA5}">
                      <a16:colId xmlns:a16="http://schemas.microsoft.com/office/drawing/2014/main" val="2042762706"/>
                    </a:ext>
                  </a:extLst>
                </a:gridCol>
                <a:gridCol w="1474631">
                  <a:extLst>
                    <a:ext uri="{9D8B030D-6E8A-4147-A177-3AD203B41FA5}">
                      <a16:colId xmlns:a16="http://schemas.microsoft.com/office/drawing/2014/main" val="2826340872"/>
                    </a:ext>
                  </a:extLst>
                </a:gridCol>
                <a:gridCol w="1223493">
                  <a:extLst>
                    <a:ext uri="{9D8B030D-6E8A-4147-A177-3AD203B41FA5}">
                      <a16:colId xmlns:a16="http://schemas.microsoft.com/office/drawing/2014/main" val="52702344"/>
                    </a:ext>
                  </a:extLst>
                </a:gridCol>
                <a:gridCol w="1689462">
                  <a:extLst>
                    <a:ext uri="{9D8B030D-6E8A-4147-A177-3AD203B41FA5}">
                      <a16:colId xmlns:a16="http://schemas.microsoft.com/office/drawing/2014/main" val="1376639547"/>
                    </a:ext>
                  </a:extLst>
                </a:gridCol>
              </a:tblGrid>
              <a:tr h="60567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合成星座配置</a:t>
                      </a:r>
                      <a:endParaRPr lang="zh-CN" altLang="en-US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总卫星数</a:t>
                      </a:r>
                      <a:r>
                        <a:rPr lang="en-US" altLang="zh-CN" dirty="0"/>
                        <a:t>3888</a:t>
                      </a:r>
                      <a:r>
                        <a:rPr lang="zh-CN" altLang="en-US" dirty="0"/>
                        <a:t>（对标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Starlink Gen1 </a:t>
                      </a:r>
                      <a:r>
                        <a:rPr lang="zh-CN" altLang="en-US" dirty="0"/>
                        <a:t>三壳合并规模）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616324"/>
                  </a:ext>
                </a:extLst>
              </a:tr>
              <a:tr h="60567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地面站配置</a:t>
                      </a:r>
                      <a:endParaRPr lang="zh-CN" altLang="en-US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100</a:t>
                      </a:r>
                      <a:r>
                        <a:rPr lang="zh-CN" altLang="en-US" dirty="0"/>
                        <a:t>人口最密集城市（默认） </a:t>
                      </a:r>
                      <a:r>
                        <a:rPr lang="en-US" altLang="zh-CN" dirty="0"/>
                        <a:t>/ 100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GDP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最高城市 </a:t>
                      </a:r>
                      <a:r>
                        <a:rPr lang="en-US" altLang="zh-CN" dirty="0"/>
                        <a:t>/ 233</a:t>
                      </a:r>
                      <a:r>
                        <a:rPr lang="zh-CN" altLang="en-US" dirty="0"/>
                        <a:t>国首都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374265"/>
                  </a:ext>
                </a:extLst>
              </a:tr>
              <a:tr h="654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模型与策略</a:t>
                      </a:r>
                      <a:endParaRPr lang="zh-CN" altLang="en-US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zh-CN" dirty="0"/>
                        <a:t>波段链路预算模型、20条最短路径路由策略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290761"/>
                  </a:ext>
                </a:extLst>
              </a:tr>
              <a:tr h="60567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实验组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高度变化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倾角变化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架构对比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时变演化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流量指标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481325"/>
                  </a:ext>
                </a:extLst>
              </a:tr>
              <a:tr h="87027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参数范围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340~2000km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30°~80°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单层</a:t>
                      </a:r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vs. </a:t>
                      </a:r>
                      <a:r>
                        <a:rPr lang="zh-C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多层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0~24</a:t>
                      </a:r>
                      <a:r>
                        <a:rPr lang="zh-CN" altLang="en-US"/>
                        <a:t>小时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小时间隔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High-Pop / High-GDP / Country-Cap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57235"/>
                  </a:ext>
                </a:extLst>
              </a:tr>
            </a:tbl>
          </a:graphicData>
        </a:graphic>
      </p:graphicFrame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F685AE9B-61F3-7660-E39E-D4363E245DF0}"/>
              </a:ext>
            </a:extLst>
          </p:cNvPr>
          <p:cNvSpPr/>
          <p:nvPr/>
        </p:nvSpPr>
        <p:spPr>
          <a:xfrm>
            <a:off x="612720" y="1779036"/>
            <a:ext cx="1639078" cy="796213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基础星座生成</a:t>
            </a:r>
          </a:p>
        </p:txBody>
      </p:sp>
      <p:sp>
        <p:nvSpPr>
          <p:cNvPr id="10" name="流程图: 可选过程 9">
            <a:extLst>
              <a:ext uri="{FF2B5EF4-FFF2-40B4-BE49-F238E27FC236}">
                <a16:creationId xmlns:a16="http://schemas.microsoft.com/office/drawing/2014/main" id="{F483FB7E-CF57-783D-3485-41D891C69974}"/>
              </a:ext>
            </a:extLst>
          </p:cNvPr>
          <p:cNvSpPr/>
          <p:nvPr/>
        </p:nvSpPr>
        <p:spPr>
          <a:xfrm>
            <a:off x="2761866" y="1779037"/>
            <a:ext cx="1548881" cy="796213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单参数扰动</a:t>
            </a:r>
          </a:p>
        </p:txBody>
      </p:sp>
      <p:sp>
        <p:nvSpPr>
          <p:cNvPr id="11" name="流程图: 可选过程 10">
            <a:extLst>
              <a:ext uri="{FF2B5EF4-FFF2-40B4-BE49-F238E27FC236}">
                <a16:creationId xmlns:a16="http://schemas.microsoft.com/office/drawing/2014/main" id="{55EC684E-1B53-F044-B825-053C11432293}"/>
              </a:ext>
            </a:extLst>
          </p:cNvPr>
          <p:cNvSpPr/>
          <p:nvPr/>
        </p:nvSpPr>
        <p:spPr>
          <a:xfrm>
            <a:off x="4820815" y="1779037"/>
            <a:ext cx="1701281" cy="796213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流级仿真评估</a:t>
            </a:r>
          </a:p>
        </p:txBody>
      </p:sp>
      <p:sp>
        <p:nvSpPr>
          <p:cNvPr id="12" name="流程图: 可选过程 11">
            <a:extLst>
              <a:ext uri="{FF2B5EF4-FFF2-40B4-BE49-F238E27FC236}">
                <a16:creationId xmlns:a16="http://schemas.microsoft.com/office/drawing/2014/main" id="{34179DA1-2182-A39B-E1D0-333A6D5B9CCD}"/>
              </a:ext>
            </a:extLst>
          </p:cNvPr>
          <p:cNvSpPr/>
          <p:nvPr/>
        </p:nvSpPr>
        <p:spPr>
          <a:xfrm>
            <a:off x="7032164" y="1779037"/>
            <a:ext cx="1701281" cy="796213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数据收集分析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B998BAEE-63A0-68FD-7BC7-EC016DA6BB84}"/>
              </a:ext>
            </a:extLst>
          </p:cNvPr>
          <p:cNvSpPr/>
          <p:nvPr/>
        </p:nvSpPr>
        <p:spPr>
          <a:xfrm>
            <a:off x="2320226" y="2024672"/>
            <a:ext cx="454080" cy="2951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B792A50C-2259-4892-532C-234277C5A976}"/>
              </a:ext>
            </a:extLst>
          </p:cNvPr>
          <p:cNvSpPr/>
          <p:nvPr/>
        </p:nvSpPr>
        <p:spPr>
          <a:xfrm>
            <a:off x="4379175" y="2037114"/>
            <a:ext cx="454080" cy="2951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42B29497-FFF2-B6BA-9FC2-791CA9A7C6BA}"/>
              </a:ext>
            </a:extLst>
          </p:cNvPr>
          <p:cNvSpPr/>
          <p:nvPr/>
        </p:nvSpPr>
        <p:spPr>
          <a:xfrm>
            <a:off x="6578084" y="2024672"/>
            <a:ext cx="454080" cy="2951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01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8284-062D-F3CC-236C-151821F2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C0B628-C709-CA2E-32A8-9111DAAF53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37" y="1642222"/>
            <a:ext cx="7103326" cy="3892135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E93899-170B-5B8D-C0AF-99E7A531F0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5918" y="5512389"/>
            <a:ext cx="8372163" cy="1200639"/>
          </a:xfrm>
          <a:ln w="28575"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r>
              <a:rPr lang="en-US" altLang="zh-CN" sz="1800" dirty="0"/>
              <a:t> </a:t>
            </a:r>
            <a:r>
              <a:rPr lang="zh-CN" altLang="en-US" sz="1800" dirty="0"/>
              <a:t>随高度上升因跳数减少，但过高高度导致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GSL </a:t>
            </a:r>
            <a:r>
              <a:rPr lang="zh-CN" altLang="en-US" sz="1800" dirty="0"/>
              <a:t>距离增加、带宽稀释。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Accommodated Flow </a:t>
            </a:r>
            <a:r>
              <a:rPr lang="zh-CN" altLang="en-US" sz="1800" dirty="0"/>
              <a:t>在</a:t>
            </a:r>
            <a:r>
              <a:rPr lang="en-US" altLang="zh-CN" sz="1800" dirty="0"/>
              <a:t>1200km</a:t>
            </a:r>
            <a:r>
              <a:rPr lang="zh-CN" altLang="en-US" sz="1800" dirty="0"/>
              <a:t>后趋于平稳（</a:t>
            </a:r>
            <a:r>
              <a:rPr lang="en-US" altLang="zh-CN" sz="1800" dirty="0"/>
              <a:t>~23-24%</a:t>
            </a:r>
            <a:r>
              <a:rPr lang="zh-CN" altLang="en-US" sz="1800" dirty="0"/>
              <a:t>），说明吞吐下降非拥塞导致，而是单链路容量受限。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0AC9A14-465B-2805-25D1-0F12130E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实验一：高度敏感性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97DA1AF-091D-C642-64B6-A45D8767398C}"/>
              </a:ext>
            </a:extLst>
          </p:cNvPr>
          <p:cNvSpPr/>
          <p:nvPr/>
        </p:nvSpPr>
        <p:spPr>
          <a:xfrm>
            <a:off x="1865375" y="3215952"/>
            <a:ext cx="1723798" cy="1923346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753E751F-1CE4-8322-1131-992771F2404D}"/>
              </a:ext>
            </a:extLst>
          </p:cNvPr>
          <p:cNvSpPr/>
          <p:nvPr/>
        </p:nvSpPr>
        <p:spPr>
          <a:xfrm>
            <a:off x="4027715" y="3429000"/>
            <a:ext cx="3673150" cy="1424473"/>
          </a:xfrm>
          <a:prstGeom prst="wedgeRoundRectCallout">
            <a:avLst>
              <a:gd name="adj1" fmla="val -60112"/>
              <a:gd name="adj2" fmla="val -382"/>
              <a:gd name="adj3" fmla="val 16667"/>
            </a:avLst>
          </a:prstGeom>
          <a:noFill/>
          <a:ln>
            <a:solidFill>
              <a:srgbClr val="00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高度参数对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 </a:t>
            </a:r>
            <a:r>
              <a:rPr lang="zh-CN" altLang="en-US" dirty="0">
                <a:solidFill>
                  <a:schemeClr val="tx1"/>
                </a:solidFill>
              </a:rPr>
              <a:t>网络“连通性”的非线性影响</a:t>
            </a:r>
            <a:r>
              <a:rPr lang="en-US" altLang="zh-CN" dirty="0">
                <a:solidFill>
                  <a:schemeClr val="tx1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不能只看吞吐量的单调增长，必须同时关注流量容纳能力的协同性</a:t>
            </a:r>
          </a:p>
        </p:txBody>
      </p:sp>
    </p:spTree>
    <p:extLst>
      <p:ext uri="{BB962C8B-B14F-4D97-AF65-F5344CB8AC3E}">
        <p14:creationId xmlns:p14="http://schemas.microsoft.com/office/powerpoint/2010/main" val="370316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2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C1293-B08F-EC87-451B-19494E5F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535D9AE-D7DB-CF89-05B2-02E809D68E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16" y="1886757"/>
            <a:ext cx="5464621" cy="4526725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C45058-E762-C042-EA70-3BB62A33B1D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8733" y="1803045"/>
            <a:ext cx="3147454" cy="15583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高高度提供长距离</a:t>
            </a:r>
            <a:r>
              <a:rPr lang="en-US" altLang="zh-CN" dirty="0"/>
              <a:t>“</a:t>
            </a:r>
            <a:r>
              <a:rPr lang="zh-CN" altLang="en-US" dirty="0"/>
              <a:t>捷径</a:t>
            </a:r>
            <a:r>
              <a:rPr lang="en-US" altLang="zh-CN" dirty="0"/>
              <a:t>”</a:t>
            </a:r>
            <a:r>
              <a:rPr lang="zh-CN" altLang="en-US" dirty="0"/>
              <a:t>，显著减少南北向跳数。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局部路由代价恶化，高高度下</a:t>
            </a:r>
            <a:r>
              <a:rPr lang="en-US" altLang="zh-CN" dirty="0"/>
              <a:t>“</a:t>
            </a:r>
            <a:r>
              <a:rPr lang="zh-CN" altLang="en-US" dirty="0"/>
              <a:t>绕路</a:t>
            </a:r>
            <a:r>
              <a:rPr lang="en-US" altLang="zh-CN" dirty="0"/>
              <a:t>”</a:t>
            </a:r>
            <a:r>
              <a:rPr lang="zh-CN" altLang="en-US" dirty="0"/>
              <a:t>现象严重。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55C6B62-5537-DC61-B6D5-3B95C076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实验一：高度敏感性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782527-39A2-386F-17CA-EC61F4B51073}"/>
              </a:ext>
            </a:extLst>
          </p:cNvPr>
          <p:cNvSpPr txBox="1"/>
          <p:nvPr/>
        </p:nvSpPr>
        <p:spPr>
          <a:xfrm>
            <a:off x="5978815" y="3496616"/>
            <a:ext cx="2627290" cy="3108543"/>
          </a:xfrm>
          <a:prstGeom prst="rect">
            <a:avLst/>
          </a:prstGeom>
          <a:noFill/>
          <a:ln w="19050">
            <a:solidFill>
              <a:srgbClr val="00409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高度↑ </a:t>
            </a:r>
            <a:endParaRPr lang="en-US" altLang="zh-CN" sz="2000" dirty="0"/>
          </a:p>
          <a:p>
            <a:pPr algn="ctr"/>
            <a:endParaRPr lang="en-US" altLang="zh-CN" sz="2800" dirty="0"/>
          </a:p>
          <a:p>
            <a:pPr algn="ctr"/>
            <a:r>
              <a:rPr lang="zh-CN" altLang="en-US" sz="2000" dirty="0"/>
              <a:t>长跳数↓（吞吐↑）</a:t>
            </a:r>
            <a:endParaRPr lang="en-US" altLang="zh-CN" sz="2000" dirty="0"/>
          </a:p>
          <a:p>
            <a:pPr algn="ctr"/>
            <a:r>
              <a:rPr lang="en-US" altLang="zh-CN" sz="2000" dirty="0"/>
              <a:t>&amp;</a:t>
            </a:r>
          </a:p>
          <a:p>
            <a:pPr algn="ctr"/>
            <a:r>
              <a:rPr lang="zh-CN" altLang="en-US" sz="2000" dirty="0"/>
              <a:t>局部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Stretch</a:t>
            </a:r>
            <a:r>
              <a:rPr lang="en-US" altLang="zh-CN" sz="2000" dirty="0"/>
              <a:t>↑</a:t>
            </a:r>
            <a:r>
              <a:rPr lang="zh-CN" altLang="en-US" sz="2000" dirty="0"/>
              <a:t>（延迟↑）</a:t>
            </a:r>
            <a:endParaRPr lang="en-US" altLang="zh-CN" sz="2000" dirty="0"/>
          </a:p>
          <a:p>
            <a:pPr algn="ctr"/>
            <a:endParaRPr lang="en-US" altLang="zh-CN" sz="2800" dirty="0"/>
          </a:p>
          <a:p>
            <a:pPr algn="ctr"/>
            <a:r>
              <a:rPr lang="zh-CN" altLang="en-US" sz="2000" dirty="0"/>
              <a:t>存在最优高度平衡点（</a:t>
            </a:r>
            <a:r>
              <a:rPr lang="en-US" altLang="zh-CN" sz="2000" dirty="0"/>
              <a:t>~1200km</a:t>
            </a:r>
            <a:r>
              <a:rPr lang="zh-CN" altLang="en-US" sz="2000" dirty="0"/>
              <a:t>）</a:t>
            </a:r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6D54F65E-99E3-242F-FD7B-D3530EAA8020}"/>
              </a:ext>
            </a:extLst>
          </p:cNvPr>
          <p:cNvSpPr/>
          <p:nvPr/>
        </p:nvSpPr>
        <p:spPr>
          <a:xfrm>
            <a:off x="7122014" y="3925918"/>
            <a:ext cx="180304" cy="31553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8333F6CE-AFDB-A0AA-FD5D-FEC32C19D9D7}"/>
              </a:ext>
            </a:extLst>
          </p:cNvPr>
          <p:cNvSpPr/>
          <p:nvPr/>
        </p:nvSpPr>
        <p:spPr>
          <a:xfrm>
            <a:off x="7122014" y="5555098"/>
            <a:ext cx="180304" cy="31553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38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A762-0641-54C0-ED70-88CD4236C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8B03F4-731E-004C-4CAB-6AD97E65AB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761" y="5534356"/>
            <a:ext cx="8682687" cy="1690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</a:t>
            </a:r>
            <a:r>
              <a:rPr lang="zh-CN" altLang="en-US" sz="1800" dirty="0"/>
              <a:t>在</a:t>
            </a:r>
            <a:r>
              <a:rPr lang="en-US" altLang="zh-CN" sz="1800" dirty="0"/>
              <a:t>40°</a:t>
            </a:r>
            <a:r>
              <a:rPr lang="zh-CN" altLang="en-US" sz="1800" dirty="0"/>
              <a:t>达到峰值，与全球人口纬度分布吻合，多数人口集中在</a:t>
            </a:r>
            <a:r>
              <a:rPr lang="en-US" altLang="zh-CN" sz="1800" dirty="0"/>
              <a:t>±40°</a:t>
            </a:r>
            <a:r>
              <a:rPr lang="zh-CN" altLang="en-US" sz="1800" dirty="0"/>
              <a:t>之间。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Accommodated Flow </a:t>
            </a:r>
            <a:r>
              <a:rPr lang="zh-CN" altLang="en-US" sz="1800" dirty="0"/>
              <a:t>在</a:t>
            </a:r>
            <a:r>
              <a:rPr lang="en-US" altLang="zh-CN" sz="1800" dirty="0"/>
              <a:t>40°</a:t>
            </a:r>
            <a:r>
              <a:rPr lang="zh-CN" altLang="en-US" sz="1800" dirty="0"/>
              <a:t>后持续下降，说明高倾角下卫星在极地</a:t>
            </a:r>
            <a:r>
              <a:rPr lang="en-US" altLang="zh-CN" sz="1800" dirty="0"/>
              <a:t>“</a:t>
            </a:r>
            <a:r>
              <a:rPr lang="zh-CN" altLang="en-US" sz="1800" dirty="0"/>
              <a:t>空转</a:t>
            </a:r>
            <a:r>
              <a:rPr lang="en-US" altLang="zh-CN" sz="1800" dirty="0"/>
              <a:t>”</a:t>
            </a:r>
            <a:r>
              <a:rPr lang="zh-CN" altLang="en-US" sz="1800" dirty="0"/>
              <a:t>，服务效率降低。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F6D4852-A605-BBDC-8D8E-EA532BF37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实验二：倾角敏感性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6D83E6-247F-B3F5-CCF8-C7DD657476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13" y="1588862"/>
            <a:ext cx="7126973" cy="39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9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72F3-163F-33AB-5F47-1244C74F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1118CFF-054D-DC4B-EBF3-748922FB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实验二：倾角敏感性</a:t>
            </a:r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739907DC-868D-7676-387F-B0266A767A26}"/>
              </a:ext>
            </a:extLst>
          </p:cNvPr>
          <p:cNvSpPr txBox="1">
            <a:spLocks/>
          </p:cNvSpPr>
          <p:nvPr/>
        </p:nvSpPr>
        <p:spPr>
          <a:xfrm>
            <a:off x="667084" y="5640953"/>
            <a:ext cx="8026042" cy="11590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倾角↑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 Stretch</a:t>
            </a:r>
            <a:r>
              <a:rPr lang="en-US" altLang="zh-CN" dirty="0"/>
              <a:t>↓</a:t>
            </a:r>
            <a:r>
              <a:rPr lang="zh-CN" altLang="en-US" dirty="0"/>
              <a:t>（南北向改善）但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EW Stretch</a:t>
            </a:r>
            <a:r>
              <a:rPr lang="en-US" altLang="zh-CN" dirty="0"/>
              <a:t>↑</a:t>
            </a:r>
            <a:r>
              <a:rPr lang="zh-CN" altLang="en-US" dirty="0"/>
              <a:t>（东西向恶化）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 Stretch </a:t>
            </a:r>
            <a:r>
              <a:rPr lang="en-US" altLang="zh-CN" dirty="0"/>
              <a:t>(2.6) </a:t>
            </a:r>
            <a:r>
              <a:rPr lang="zh-CN" altLang="en-US" dirty="0"/>
              <a:t>与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EW Stretch </a:t>
            </a:r>
            <a:r>
              <a:rPr lang="en-US" altLang="zh-CN" dirty="0"/>
              <a:t>(1.25) </a:t>
            </a:r>
            <a:r>
              <a:rPr lang="zh-CN" altLang="en-US" dirty="0"/>
              <a:t>的综合表现最优</a:t>
            </a: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92E98D5-0BD6-0EA8-A5ED-84DF5EC313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21" y="1683344"/>
            <a:ext cx="6973128" cy="38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6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066D-FEF9-5E36-F7B2-361B54EC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1F436F5-6453-586F-D0CA-723FAB9FCA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3" y="1832807"/>
            <a:ext cx="6484915" cy="2797147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2021D518-6029-DE33-37E3-E1D9AD34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实验三：架构权衡</a:t>
            </a:r>
            <a:r>
              <a:rPr lang="en-US" altLang="zh-CN" dirty="0"/>
              <a:t>——</a:t>
            </a:r>
            <a:r>
              <a:rPr lang="zh-CN" altLang="en-US" dirty="0"/>
              <a:t>单层 </a:t>
            </a:r>
            <a:r>
              <a:rPr lang="en-US" altLang="zh-CN" dirty="0"/>
              <a:t>vs </a:t>
            </a:r>
            <a:r>
              <a:rPr lang="zh-CN" altLang="en-US" dirty="0"/>
              <a:t>多层</a:t>
            </a:r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84FDBA99-60FA-2FD1-C535-CC55B9DC17CC}"/>
              </a:ext>
            </a:extLst>
          </p:cNvPr>
          <p:cNvSpPr txBox="1">
            <a:spLocks/>
          </p:cNvSpPr>
          <p:nvPr/>
        </p:nvSpPr>
        <p:spPr>
          <a:xfrm>
            <a:off x="395756" y="4812690"/>
            <a:ext cx="6492451" cy="1658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单层密集</a:t>
            </a:r>
            <a:r>
              <a:rPr lang="zh-CN" altLang="en-US" dirty="0"/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</a:t>
            </a:r>
            <a:r>
              <a:rPr lang="zh-CN" altLang="en-US" dirty="0"/>
              <a:t>连接多→路径多样性高→总吞吐大，但链路竞争严重→部分流无法满足。</a:t>
            </a:r>
            <a:endParaRPr lang="en-US" altLang="zh-CN" dirty="0"/>
          </a:p>
          <a:p>
            <a:r>
              <a:rPr lang="zh-CN" altLang="en-US" b="1" dirty="0"/>
              <a:t>多层分离</a:t>
            </a:r>
            <a:r>
              <a:rPr lang="zh-CN" altLang="en-US" dirty="0"/>
              <a:t>：层间隔离→竞争减少→更多流被满足，但跨层路由代价高→总吞吐略低。</a:t>
            </a:r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54AF60B-FEA7-18D0-E365-6501A5BDC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554" y="4436768"/>
            <a:ext cx="1627904" cy="15204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7E66CB2-6BBF-FA73-6668-5F6CE942E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554" y="1967390"/>
            <a:ext cx="1627904" cy="162027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DF79E32-9FCA-D9D7-A617-B32FBEC2F073}"/>
              </a:ext>
            </a:extLst>
          </p:cNvPr>
          <p:cNvSpPr txBox="1"/>
          <p:nvPr/>
        </p:nvSpPr>
        <p:spPr>
          <a:xfrm>
            <a:off x="7160798" y="364288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单层架构示意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D06226-1F7A-4D97-CFC0-696B87F240AB}"/>
              </a:ext>
            </a:extLst>
          </p:cNvPr>
          <p:cNvSpPr txBox="1"/>
          <p:nvPr/>
        </p:nvSpPr>
        <p:spPr>
          <a:xfrm>
            <a:off x="7131676" y="600482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多层架构示意</a:t>
            </a:r>
          </a:p>
        </p:txBody>
      </p:sp>
    </p:spTree>
    <p:extLst>
      <p:ext uri="{BB962C8B-B14F-4D97-AF65-F5344CB8AC3E}">
        <p14:creationId xmlns:p14="http://schemas.microsoft.com/office/powerpoint/2010/main" val="113564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3477-172B-D60A-15A3-A2CDCDE8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2AB1E87-2F99-808B-1C96-D591A3ABA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实验三：架构权衡</a:t>
            </a:r>
            <a:r>
              <a:rPr lang="en-US" altLang="zh-CN" dirty="0"/>
              <a:t>——</a:t>
            </a:r>
            <a:r>
              <a:rPr lang="zh-CN" altLang="en-US" dirty="0"/>
              <a:t>单层 </a:t>
            </a:r>
            <a:r>
              <a:rPr lang="en-US" altLang="zh-CN" dirty="0"/>
              <a:t>vs </a:t>
            </a:r>
            <a:r>
              <a:rPr lang="zh-CN" altLang="en-US" dirty="0"/>
              <a:t>多层</a:t>
            </a:r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447BBA46-D50A-18AB-50FD-E7D1E12E6F47}"/>
              </a:ext>
            </a:extLst>
          </p:cNvPr>
          <p:cNvSpPr txBox="1">
            <a:spLocks/>
          </p:cNvSpPr>
          <p:nvPr/>
        </p:nvSpPr>
        <p:spPr>
          <a:xfrm>
            <a:off x="673637" y="5057388"/>
            <a:ext cx="7796725" cy="1658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Multi-Shell</a:t>
            </a:r>
            <a:r>
              <a:rPr lang="en-US" altLang="zh-CN" dirty="0"/>
              <a:t> </a:t>
            </a:r>
            <a:r>
              <a:rPr lang="zh-CN" altLang="en-US" dirty="0"/>
              <a:t>胜在“宏观导航”（长距离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Stretch</a:t>
            </a:r>
            <a:r>
              <a:rPr lang="en-US" altLang="zh-CN" dirty="0"/>
              <a:t> </a:t>
            </a:r>
            <a:r>
              <a:rPr lang="zh-CN" altLang="en-US" dirty="0"/>
              <a:t>低、跳数少）；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Single-Shell</a:t>
            </a:r>
            <a:r>
              <a:rPr lang="en-US" altLang="zh-CN" dirty="0"/>
              <a:t> </a:t>
            </a:r>
            <a:r>
              <a:rPr lang="zh-CN" altLang="en-US" dirty="0"/>
              <a:t>胜在“微观连接”（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局部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 Stretch </a:t>
            </a:r>
            <a:r>
              <a:rPr lang="zh-CN" altLang="en-US" dirty="0"/>
              <a:t>低）。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这也解释了为何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Single-Shell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总吞吐更高（局部开销小），而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Multi-Shell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适合对延迟敏感的业务。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A25AD3-05DA-F4E6-5B7C-7E9724F7B3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55" y="1619109"/>
            <a:ext cx="7980287" cy="335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1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B8AEC-A019-5E59-245C-7C0A535B9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166E078-36CD-1184-3E1A-77A835D1A3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49" y="2812424"/>
            <a:ext cx="7226909" cy="3941949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4708DA86-D06A-0B94-1E8E-31AFFF19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实验四：时变稳定性</a:t>
            </a:r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14CAB48E-5212-3253-7BDD-349CB6B04D15}"/>
              </a:ext>
            </a:extLst>
          </p:cNvPr>
          <p:cNvSpPr txBox="1">
            <a:spLocks/>
          </p:cNvSpPr>
          <p:nvPr/>
        </p:nvSpPr>
        <p:spPr>
          <a:xfrm>
            <a:off x="5258510" y="1760468"/>
            <a:ext cx="3878129" cy="1281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尽管卫星在高速运动，拓扑时刻在变，但是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LEO</a:t>
            </a:r>
            <a:r>
              <a:rPr lang="en-US" altLang="zh-CN" dirty="0"/>
              <a:t> </a:t>
            </a:r>
            <a:r>
              <a:rPr lang="zh-CN" altLang="en-US" dirty="0"/>
              <a:t>动态性带来的性能波动是有限且可控的。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577295-8728-FE70-B765-A810A8856F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03" y="1683688"/>
            <a:ext cx="5062217" cy="3300435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7DB7AB79-5C9C-1CDD-5E9D-420308CFB6C2}"/>
              </a:ext>
            </a:extLst>
          </p:cNvPr>
          <p:cNvSpPr/>
          <p:nvPr/>
        </p:nvSpPr>
        <p:spPr>
          <a:xfrm>
            <a:off x="5647386" y="3535251"/>
            <a:ext cx="2266682" cy="1513267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79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45B6-2B80-941C-689A-82A7B7BD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975DF72-B5AE-4D4C-897E-0F35467D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实验五：流量指标与拥塞特征</a:t>
            </a:r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B9067EEF-FC31-3ECA-1208-C59B57984974}"/>
              </a:ext>
            </a:extLst>
          </p:cNvPr>
          <p:cNvSpPr txBox="1">
            <a:spLocks/>
          </p:cNvSpPr>
          <p:nvPr/>
        </p:nvSpPr>
        <p:spPr>
          <a:xfrm>
            <a:off x="673637" y="5640953"/>
            <a:ext cx="7796725" cy="93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Capitals </a:t>
            </a:r>
            <a:r>
              <a:rPr lang="zh-CN" altLang="en-US" dirty="0"/>
              <a:t>流量矩阵的站点分布更均匀（全球分散），避免了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High-Pop </a:t>
            </a:r>
            <a:r>
              <a:rPr lang="zh-CN" altLang="en-US" dirty="0"/>
              <a:t>矩阵中流量过度集中在少数热点城市导致的局部拥塞瓶颈。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580850-AEA4-8B2F-18EA-E56A81E8F5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957" y="1692953"/>
            <a:ext cx="6032083" cy="369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34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CC842-1B84-B465-B024-103A06851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5396A6A-94AB-6928-30D5-30FB68C22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实验五：流量指标与拥塞特征</a:t>
            </a:r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021F4919-ECBE-7D0C-9DEF-C9700E6FD7D4}"/>
              </a:ext>
            </a:extLst>
          </p:cNvPr>
          <p:cNvSpPr txBox="1">
            <a:spLocks/>
          </p:cNvSpPr>
          <p:nvPr/>
        </p:nvSpPr>
        <p:spPr>
          <a:xfrm>
            <a:off x="6429577" y="1836467"/>
            <a:ext cx="2436610" cy="3273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Country-Cap</a:t>
            </a:r>
            <a:r>
              <a:rPr lang="en-US" altLang="zh-CN" dirty="0"/>
              <a:t> </a:t>
            </a:r>
            <a:r>
              <a:rPr lang="zh-CN" altLang="en-US" dirty="0"/>
              <a:t>模型成功激活了更多链路来分担流量，且整体负载分布更均匀，实现了高吞吐。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但这也会带来更多的活跃链路管理开销。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7B470C-414A-0C09-E94D-99AAB37ECC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13" y="1629746"/>
            <a:ext cx="5905298" cy="50016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B594AEE-BB46-C46A-E57F-61D1620FB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53965"/>
            <a:ext cx="9144000" cy="859515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87945E8F-2F6A-FE6C-D976-E37DB35BEC3B}"/>
              </a:ext>
            </a:extLst>
          </p:cNvPr>
          <p:cNvSpPr/>
          <p:nvPr/>
        </p:nvSpPr>
        <p:spPr>
          <a:xfrm>
            <a:off x="7575147" y="5109882"/>
            <a:ext cx="1568853" cy="1472453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45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28941-3C31-E9BD-9816-EA66D660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C6E8BDC-8231-94B9-044B-81FDDC60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验证结论总结</a:t>
            </a:r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C79F72B0-B01D-899F-69AA-DE04C27FDE35}"/>
              </a:ext>
            </a:extLst>
          </p:cNvPr>
          <p:cNvSpPr txBox="1">
            <a:spLocks/>
          </p:cNvSpPr>
          <p:nvPr/>
        </p:nvSpPr>
        <p:spPr>
          <a:xfrm>
            <a:off x="281010" y="1727241"/>
            <a:ext cx="8495942" cy="49214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indent="-360000">
              <a:buFont typeface="+mj-lt"/>
              <a:buAutoNum type="arabicPeriod"/>
            </a:pPr>
            <a:r>
              <a:rPr lang="zh-CN" altLang="en-US" sz="2200" dirty="0"/>
              <a:t>轨道参数（高度</a:t>
            </a:r>
            <a:r>
              <a:rPr lang="en-US" altLang="zh-CN" sz="2200" dirty="0"/>
              <a:t>/</a:t>
            </a:r>
            <a:r>
              <a:rPr lang="zh-CN" altLang="en-US" sz="2200" dirty="0"/>
              <a:t>倾角）变化引起性能可解释波动</a:t>
            </a:r>
            <a:endParaRPr lang="en-US" altLang="zh-CN" sz="2200" dirty="0"/>
          </a:p>
          <a:p>
            <a:pPr lvl="1"/>
            <a:r>
              <a:rPr lang="zh-CN" altLang="en-US" sz="2000" b="1" dirty="0"/>
              <a:t>高度</a:t>
            </a:r>
            <a:r>
              <a:rPr lang="zh-CN" altLang="en-US" sz="2000" dirty="0"/>
              <a:t>：倒</a:t>
            </a:r>
            <a:r>
              <a:rPr lang="en-US" altLang="zh-CN" sz="2000" dirty="0"/>
              <a:t>U</a:t>
            </a:r>
            <a:r>
              <a:rPr lang="zh-CN" altLang="en-US" sz="2000" dirty="0"/>
              <a:t>型，</a:t>
            </a:r>
            <a:r>
              <a:rPr lang="en-US" altLang="zh-CN" sz="2000" dirty="0"/>
              <a:t>1200km</a:t>
            </a:r>
            <a:r>
              <a:rPr lang="zh-CN" altLang="en-US" sz="2000" dirty="0"/>
              <a:t>最优（平衡跳数与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GSL </a:t>
            </a:r>
            <a:r>
              <a:rPr lang="zh-CN" altLang="en-US" sz="2000" dirty="0"/>
              <a:t>损耗）</a:t>
            </a:r>
            <a:endParaRPr lang="en-US" altLang="zh-CN" sz="2000" dirty="0"/>
          </a:p>
          <a:p>
            <a:pPr lvl="1"/>
            <a:r>
              <a:rPr lang="zh-CN" altLang="en-US" sz="2000" b="1" dirty="0"/>
              <a:t>倾角</a:t>
            </a:r>
            <a:r>
              <a:rPr lang="zh-CN" altLang="en-US" sz="2000" dirty="0"/>
              <a:t>：</a:t>
            </a:r>
            <a:r>
              <a:rPr lang="en-US" altLang="zh-CN" sz="2000" dirty="0"/>
              <a:t>40°</a:t>
            </a:r>
            <a:r>
              <a:rPr lang="zh-CN" altLang="en-US" sz="2000" dirty="0"/>
              <a:t>最优（匹配人口纬度，平衡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NS/EW </a:t>
            </a:r>
            <a:r>
              <a:rPr lang="zh-CN" altLang="en-US" sz="2000" dirty="0"/>
              <a:t>路由）</a:t>
            </a:r>
            <a:endParaRPr lang="en-US" altLang="zh-CN" sz="2000" dirty="0"/>
          </a:p>
          <a:p>
            <a:pPr marL="360000" indent="-360000">
              <a:buFont typeface="+mj-lt"/>
              <a:buAutoNum type="arabicPeriod"/>
            </a:pPr>
            <a:r>
              <a:rPr lang="zh-CN" altLang="en-US" sz="2200" dirty="0"/>
              <a:t>单层密集 </a:t>
            </a:r>
            <a:r>
              <a:rPr lang="en-US" altLang="zh-CN" sz="2200" dirty="0"/>
              <a:t>vs </a:t>
            </a:r>
            <a:r>
              <a:rPr lang="zh-CN" altLang="en-US" sz="2200" dirty="0"/>
              <a:t>多层分离存在吞吐与路径质量权衡</a:t>
            </a:r>
            <a:endParaRPr lang="en-US" altLang="zh-CN" sz="2200" dirty="0"/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Single-Shell</a:t>
            </a:r>
            <a:r>
              <a:rPr lang="en-US" altLang="zh-CN" sz="2000" dirty="0"/>
              <a:t> </a:t>
            </a:r>
            <a:r>
              <a:rPr lang="zh-CN" altLang="en-US" sz="2000" dirty="0"/>
              <a:t>吞吐高（局部好），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Multi-Shell</a:t>
            </a:r>
            <a:r>
              <a:rPr lang="en-US" altLang="zh-CN" sz="2000" dirty="0"/>
              <a:t> </a:t>
            </a:r>
            <a:r>
              <a:rPr lang="zh-CN" altLang="en-US" sz="2000" dirty="0"/>
              <a:t>路径优（长距好）</a:t>
            </a:r>
            <a:endParaRPr lang="en-US" altLang="zh-CN" sz="2000" dirty="0"/>
          </a:p>
          <a:p>
            <a:pPr marL="360000" indent="-360000">
              <a:buFont typeface="+mj-lt"/>
              <a:buAutoNum type="arabicPeriod"/>
            </a:pPr>
            <a:r>
              <a:rPr lang="zh-CN" altLang="en-US" sz="2200" dirty="0"/>
              <a:t>网络性能随时间演化波动但规律稳定</a:t>
            </a:r>
            <a:endParaRPr lang="en-US" altLang="zh-CN" sz="2200" dirty="0"/>
          </a:p>
          <a:p>
            <a:pPr lvl="1"/>
            <a:r>
              <a:rPr lang="en-US" altLang="zh-CN" sz="2000" dirty="0"/>
              <a:t>24h</a:t>
            </a:r>
            <a:r>
              <a:rPr lang="zh-CN" altLang="en-US" sz="2000" dirty="0"/>
              <a:t>波动</a:t>
            </a:r>
            <a:r>
              <a:rPr lang="en-US" altLang="zh-CN" sz="2000" dirty="0"/>
              <a:t>&lt;2.5%</a:t>
            </a:r>
            <a:r>
              <a:rPr lang="zh-CN" altLang="en-US" sz="2000" dirty="0"/>
              <a:t>，高度稳定</a:t>
            </a:r>
            <a:endParaRPr lang="en-US" altLang="zh-CN" sz="2000" dirty="0"/>
          </a:p>
          <a:p>
            <a:pPr marL="360000" indent="-360000">
              <a:buFont typeface="+mj-lt"/>
              <a:buAutoNum type="arabicPeriod"/>
            </a:pP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Country_Capitals_TM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在</a:t>
            </a:r>
            <a:r>
              <a:rPr lang="zh-CN" altLang="en-US" sz="2200" dirty="0">
                <a:latin typeface="+mn-ea"/>
              </a:rPr>
              <a:t>流量指标分析中吞吐表现最优</a:t>
            </a:r>
            <a:endParaRPr lang="en-US" altLang="zh-CN" sz="2200" dirty="0">
              <a:latin typeface="+mn-ea"/>
            </a:endParaRPr>
          </a:p>
          <a:p>
            <a:pPr lvl="1"/>
            <a:r>
              <a:rPr lang="zh-CN" altLang="en-US" sz="2000" dirty="0"/>
              <a:t>分散流量（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Country-Cap</a:t>
            </a:r>
            <a:r>
              <a:rPr lang="zh-CN" altLang="en-US" sz="2000" dirty="0"/>
              <a:t>）吞吐提升</a:t>
            </a:r>
            <a:r>
              <a:rPr lang="en-US" altLang="zh-CN" sz="2000" dirty="0"/>
              <a:t>27%</a:t>
            </a: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263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D850-B184-D893-8411-BB7122709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FC4B2F6-5903-755F-5FA0-B1D6F227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不足之处</a:t>
            </a:r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89F2E9EF-A887-E267-8740-DC1B8726F961}"/>
              </a:ext>
            </a:extLst>
          </p:cNvPr>
          <p:cNvSpPr txBox="1">
            <a:spLocks/>
          </p:cNvSpPr>
          <p:nvPr/>
        </p:nvSpPr>
        <p:spPr>
          <a:xfrm>
            <a:off x="281010" y="1727241"/>
            <a:ext cx="8495942" cy="49214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indent="-360000">
              <a:buFont typeface="+mj-lt"/>
              <a:buAutoNum type="arabicPeriod"/>
            </a:pPr>
            <a:r>
              <a:rPr lang="zh-CN" altLang="zh-CN" sz="2400" dirty="0"/>
              <a:t>实验的简化假设</a:t>
            </a:r>
            <a:endParaRPr lang="en-US" altLang="zh-CN" sz="2200" dirty="0"/>
          </a:p>
          <a:p>
            <a:pPr lvl="1"/>
            <a:r>
              <a:rPr lang="zh-CN" altLang="zh-CN" sz="2000" dirty="0"/>
              <a:t>未考虑频率复用、波束成形、邻星干扰</a:t>
            </a:r>
            <a:endParaRPr lang="en-US" altLang="zh-CN" sz="2000" dirty="0"/>
          </a:p>
          <a:p>
            <a:pPr lvl="1"/>
            <a:r>
              <a:rPr lang="zh-CN" altLang="zh-CN" sz="2000" dirty="0"/>
              <a:t>固定</a:t>
            </a:r>
            <a:r>
              <a:rPr lang="en-US" altLang="zh-CN" sz="2000" dirty="0"/>
              <a:t> 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/>
              <a:t>容量</a:t>
            </a:r>
            <a:r>
              <a:rPr lang="zh-CN" altLang="en-US" sz="2000" dirty="0"/>
              <a:t>：</a:t>
            </a:r>
            <a:r>
              <a:rPr lang="zh-CN" altLang="zh-CN" sz="2000" dirty="0"/>
              <a:t>统一设为50Gbps，未测试动态带宽分配</a:t>
            </a:r>
            <a:endParaRPr lang="en-US" altLang="zh-CN" sz="2000" dirty="0"/>
          </a:p>
          <a:p>
            <a:pPr lvl="1"/>
            <a:r>
              <a:rPr lang="zh-CN" altLang="zh-CN" sz="2000" dirty="0"/>
              <a:t>使用20条最短路径的线性规划最优流，非实际分布式路由协议</a:t>
            </a:r>
            <a:endParaRPr lang="en-US" altLang="zh-CN" sz="2000" dirty="0"/>
          </a:p>
          <a:p>
            <a:pPr marL="360000" indent="-360000">
              <a:buFont typeface="+mj-lt"/>
              <a:buAutoNum type="arabicPeriod"/>
            </a:pPr>
            <a:r>
              <a:rPr lang="zh-CN" altLang="en-US" sz="2400" dirty="0"/>
              <a:t>框架本身的局限</a:t>
            </a:r>
            <a:endParaRPr lang="en-US" altLang="zh-CN" sz="2400" dirty="0"/>
          </a:p>
          <a:p>
            <a:pPr lvl="1"/>
            <a:r>
              <a:rPr lang="zh-CN" altLang="zh-CN" sz="2000" dirty="0"/>
              <a:t>仅覆盖</a:t>
            </a:r>
            <a:r>
              <a:rPr lang="en-US" altLang="zh-CN" sz="2000" dirty="0"/>
              <a:t>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Walker Delta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/>
              <a:t>构型</a:t>
            </a:r>
            <a:r>
              <a:rPr lang="zh-CN" altLang="en-US" sz="2000" dirty="0"/>
              <a:t>，</a:t>
            </a:r>
            <a:r>
              <a:rPr lang="zh-CN" altLang="zh-CN" sz="2000" dirty="0"/>
              <a:t>未验证</a:t>
            </a:r>
            <a:r>
              <a:rPr lang="en-US" altLang="zh-CN" sz="2000" dirty="0"/>
              <a:t>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Walker Star</a:t>
            </a:r>
            <a:r>
              <a:rPr lang="zh-CN" altLang="zh-CN" sz="2000" dirty="0"/>
              <a:t>（极地星型）设计</a:t>
            </a:r>
            <a:endParaRPr lang="en-US" altLang="zh-CN" sz="2000" dirty="0"/>
          </a:p>
          <a:p>
            <a:pPr lvl="1"/>
            <a:r>
              <a:rPr lang="zh-CN" altLang="zh-CN" sz="2000" dirty="0"/>
              <a:t>无法捕捉包级行为如拥塞控制、重传、乱序</a:t>
            </a:r>
            <a:endParaRPr lang="en-US" altLang="zh-CN" sz="2000" dirty="0"/>
          </a:p>
          <a:p>
            <a:pPr lvl="1"/>
            <a:r>
              <a:rPr lang="zh-CN" altLang="zh-CN" sz="2000" dirty="0"/>
              <a:t>当前仅支持吞吐最大化，未扩展至多目标优化</a:t>
            </a: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649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欢迎讨论！</a:t>
            </a:r>
          </a:p>
        </p:txBody>
      </p:sp>
    </p:spTree>
    <p:extLst>
      <p:ext uri="{BB962C8B-B14F-4D97-AF65-F5344CB8AC3E}">
        <p14:creationId xmlns:p14="http://schemas.microsoft.com/office/powerpoint/2010/main" val="1362973645"/>
      </p:ext>
    </p:extLst>
  </p:cSld>
  <p:clrMapOvr>
    <a:masterClrMapping/>
  </p:clrMapOvr>
</p:sld>
</file>

<file path=ppt/theme/theme1.xml><?xml version="1.0" encoding="utf-8"?>
<a:theme xmlns:a="http://schemas.openxmlformats.org/drawingml/2006/main" name="2016-VI主题-蓝">
  <a:themeElements>
    <a:clrScheme name="VI蓝色版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338D27"/>
      </a:accent3>
      <a:accent4>
        <a:srgbClr val="00514E"/>
      </a:accent4>
      <a:accent5>
        <a:srgbClr val="FDD000"/>
      </a:accent5>
      <a:accent6>
        <a:srgbClr val="F08300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16-VI主题-蓝" id="{1B918C6D-2D61-4306-88BA-3CA31BAAF13F}" vid="{A734D909-B61D-48C4-8B37-4CE4973440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1842</TotalTime>
  <Words>2655</Words>
  <Application>Microsoft Office PowerPoint</Application>
  <PresentationFormat>全屏显示(4:3)</PresentationFormat>
  <Paragraphs>168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微软雅黑</vt:lpstr>
      <vt:lpstr>Arial</vt:lpstr>
      <vt:lpstr>Calibri</vt:lpstr>
      <vt:lpstr>Times New Roman</vt:lpstr>
      <vt:lpstr>2016-VI主题-蓝</vt:lpstr>
      <vt:lpstr>LEOCraft 架构评估方案验证： 合成星座仿真实验</vt:lpstr>
      <vt:lpstr>论文题目</vt:lpstr>
      <vt:lpstr>论文简介</vt:lpstr>
      <vt:lpstr>验证目标 (论文关键结论)</vt:lpstr>
      <vt:lpstr>实验方法与环境配置</vt:lpstr>
      <vt:lpstr>实验一：高度敏感性</vt:lpstr>
      <vt:lpstr>实验一：高度敏感性</vt:lpstr>
      <vt:lpstr>实验二：倾角敏感性</vt:lpstr>
      <vt:lpstr>实验二：倾角敏感性</vt:lpstr>
      <vt:lpstr>实验三：架构权衡——单层 vs 多层</vt:lpstr>
      <vt:lpstr>实验三：架构权衡——单层 vs 多层</vt:lpstr>
      <vt:lpstr>实验四：时变稳定性</vt:lpstr>
      <vt:lpstr>实验五：流量指标与拥塞特征</vt:lpstr>
      <vt:lpstr>实验五：流量指标与拥塞特征</vt:lpstr>
      <vt:lpstr>验证结论总结</vt:lpstr>
      <vt:lpstr>不足之处</vt:lpstr>
      <vt:lpstr>欢迎讨论！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沈小丹</dc:creator>
  <cp:lastModifiedBy>Watanabe Chika</cp:lastModifiedBy>
  <cp:revision>98</cp:revision>
  <dcterms:created xsi:type="dcterms:W3CDTF">2016-04-20T02:59:17Z</dcterms:created>
  <dcterms:modified xsi:type="dcterms:W3CDTF">2026-06-17T03:30:57Z</dcterms:modified>
</cp:coreProperties>
</file>