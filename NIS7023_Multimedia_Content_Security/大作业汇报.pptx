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89" r:id="rId4"/>
    <p:sldId id="291" r:id="rId5"/>
    <p:sldId id="288" r:id="rId6"/>
    <p:sldId id="271" r:id="rId7"/>
    <p:sldId id="292" r:id="rId8"/>
    <p:sldId id="294" r:id="rId9"/>
    <p:sldId id="293" r:id="rId10"/>
    <p:sldId id="280" r:id="rId11"/>
    <p:sldId id="287" r:id="rId12"/>
    <p:sldId id="285" r:id="rId13"/>
    <p:sldId id="286" r:id="rId14"/>
    <p:sldId id="276" r:id="rId15"/>
    <p:sldId id="295" r:id="rId16"/>
    <p:sldId id="26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5AC2"/>
    <a:srgbClr val="2E76BC"/>
    <a:srgbClr val="B5A380"/>
    <a:srgbClr val="959DBF"/>
    <a:srgbClr val="A6A6A6"/>
    <a:srgbClr val="C55A11"/>
    <a:srgbClr val="FFC000"/>
    <a:srgbClr val="2B75CF"/>
    <a:srgbClr val="004098"/>
    <a:srgbClr val="BD9F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23" autoAdjust="0"/>
    <p:restoredTop sz="94660"/>
  </p:normalViewPr>
  <p:slideViewPr>
    <p:cSldViewPr snapToGrid="0">
      <p:cViewPr varScale="1">
        <p:scale>
          <a:sx n="91" d="100"/>
          <a:sy n="91" d="100"/>
        </p:scale>
        <p:origin x="57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83DDB0-FFFC-421A-84B4-C7543C8AB8D8}" type="doc">
      <dgm:prSet loTypeId="urn:microsoft.com/office/officeart/2005/8/layout/radial3" loCatId="relationship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zh-CN" altLang="en-US"/>
        </a:p>
      </dgm:t>
    </dgm:pt>
    <dgm:pt modelId="{9AAE508E-65E7-4A26-BBE9-9664F53BD1A3}">
      <dgm:prSet phldrT="[文本]" custT="1"/>
      <dgm:spPr>
        <a:solidFill>
          <a:schemeClr val="accent1">
            <a:alpha val="58000"/>
          </a:schemeClr>
        </a:solidFill>
        <a:ln w="25400">
          <a:solidFill>
            <a:schemeClr val="bg1"/>
          </a:solidFill>
        </a:ln>
      </dgm:spPr>
      <dgm:t>
        <a:bodyPr/>
        <a:lstStyle/>
        <a:p>
          <a:endParaRPr lang="zh-CN" altLang="en-US" sz="36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CF693AF-AE1C-4EEA-8A36-AF3C2CF71615}" type="parTrans" cxnId="{C6D616C0-09DB-4480-B291-577637981E1C}">
      <dgm:prSet/>
      <dgm:spPr/>
      <dgm:t>
        <a:bodyPr/>
        <a:lstStyle/>
        <a:p>
          <a:endParaRPr lang="zh-CN" altLang="en-US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18AAB6C-9CFF-4BAB-B583-3C023C519115}" type="sibTrans" cxnId="{C6D616C0-09DB-4480-B291-577637981E1C}">
      <dgm:prSet/>
      <dgm:spPr/>
      <dgm:t>
        <a:bodyPr/>
        <a:lstStyle/>
        <a:p>
          <a:endParaRPr lang="zh-CN" altLang="en-US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4161527-E84E-41BD-A4B7-4E1DA59F33CB}">
      <dgm:prSet phldrT="[文本]" custT="1"/>
      <dgm:spPr>
        <a:solidFill>
          <a:schemeClr val="accent1">
            <a:alpha val="58000"/>
          </a:schemeClr>
        </a:solidFill>
        <a:ln w="25400">
          <a:solidFill>
            <a:schemeClr val="bg1"/>
          </a:solidFill>
        </a:ln>
      </dgm:spPr>
      <dgm:t>
        <a:bodyPr/>
        <a:lstStyle/>
        <a:p>
          <a:r>
            <a: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endParaRPr lang="zh-CN" altLang="en-US" sz="36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256A881-69AB-413C-B434-0D7CEC680480}" type="parTrans" cxnId="{F1912C94-8C0D-4066-BDF3-30C467701474}">
      <dgm:prSet/>
      <dgm:spPr/>
      <dgm:t>
        <a:bodyPr/>
        <a:lstStyle/>
        <a:p>
          <a:endParaRPr lang="zh-CN" altLang="en-US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E1C6026-2845-461A-8792-8521FFBCDD58}" type="sibTrans" cxnId="{F1912C94-8C0D-4066-BDF3-30C467701474}">
      <dgm:prSet/>
      <dgm:spPr/>
      <dgm:t>
        <a:bodyPr/>
        <a:lstStyle/>
        <a:p>
          <a:endParaRPr lang="zh-CN" altLang="en-US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B009DC1-72EC-404D-9926-5E7E3416BD84}">
      <dgm:prSet phldrT="[文本]" custT="1"/>
      <dgm:spPr>
        <a:solidFill>
          <a:schemeClr val="accent1">
            <a:alpha val="58000"/>
          </a:schemeClr>
        </a:solidFill>
        <a:ln w="25400">
          <a:solidFill>
            <a:schemeClr val="bg1"/>
          </a:solidFill>
        </a:ln>
      </dgm:spPr>
      <dgm:t>
        <a:bodyPr/>
        <a:lstStyle/>
        <a:p>
          <a:r>
            <a: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endParaRPr lang="zh-CN" altLang="en-US" sz="36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A0B23F6-16E5-462A-B315-2CEFE501216F}" type="parTrans" cxnId="{D66F7C91-02FD-4F20-BA34-A658803B6932}">
      <dgm:prSet/>
      <dgm:spPr/>
      <dgm:t>
        <a:bodyPr/>
        <a:lstStyle/>
        <a:p>
          <a:endParaRPr lang="zh-CN" altLang="en-US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6C04511-4745-4D33-B364-AA1ED32DB459}" type="sibTrans" cxnId="{D66F7C91-02FD-4F20-BA34-A658803B6932}">
      <dgm:prSet/>
      <dgm:spPr/>
      <dgm:t>
        <a:bodyPr/>
        <a:lstStyle/>
        <a:p>
          <a:endParaRPr lang="zh-CN" altLang="en-US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CE9ACC0-15AF-4FA0-9590-293316F797D1}">
      <dgm:prSet phldrT="[文本]" custT="1"/>
      <dgm:spPr>
        <a:solidFill>
          <a:schemeClr val="accent1">
            <a:alpha val="58000"/>
          </a:schemeClr>
        </a:solidFill>
        <a:ln w="25400">
          <a:solidFill>
            <a:schemeClr val="bg1"/>
          </a:solidFill>
        </a:ln>
      </dgm:spPr>
      <dgm:t>
        <a:bodyPr/>
        <a:lstStyle/>
        <a:p>
          <a:r>
            <a: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endParaRPr lang="zh-CN" altLang="en-US" sz="36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6CBCEA7-F3EF-4407-A363-1D8DA5744E7C}" type="parTrans" cxnId="{0A747376-1689-490A-AB90-2DB5850FFE6D}">
      <dgm:prSet/>
      <dgm:spPr/>
      <dgm:t>
        <a:bodyPr/>
        <a:lstStyle/>
        <a:p>
          <a:endParaRPr lang="zh-CN" altLang="en-US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0A70413-6653-4CD3-8C54-55D024050C72}" type="sibTrans" cxnId="{0A747376-1689-490A-AB90-2DB5850FFE6D}">
      <dgm:prSet/>
      <dgm:spPr/>
      <dgm:t>
        <a:bodyPr/>
        <a:lstStyle/>
        <a:p>
          <a:endParaRPr lang="zh-CN" altLang="en-US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037B6EF-DBAC-4B62-9FCE-202C0DB198C2}">
      <dgm:prSet custT="1"/>
      <dgm:spPr>
        <a:solidFill>
          <a:schemeClr val="accent1">
            <a:alpha val="58000"/>
          </a:schemeClr>
        </a:solidFill>
        <a:ln w="25400">
          <a:solidFill>
            <a:schemeClr val="bg1"/>
          </a:solidFill>
        </a:ln>
      </dgm:spPr>
      <dgm:t>
        <a:bodyPr/>
        <a:lstStyle/>
        <a:p>
          <a:r>
            <a: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endParaRPr lang="zh-CN" altLang="en-US" sz="36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F73AD58-3351-4584-9986-691532F16E24}" type="parTrans" cxnId="{4559307C-E1F3-4982-9FC2-69A2132AEF1A}">
      <dgm:prSet/>
      <dgm:spPr/>
      <dgm:t>
        <a:bodyPr/>
        <a:lstStyle/>
        <a:p>
          <a:endParaRPr lang="zh-CN" altLang="en-US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8ACCFC0-9C42-44A7-B1D3-03D88BA56566}" type="sibTrans" cxnId="{4559307C-E1F3-4982-9FC2-69A2132AEF1A}">
      <dgm:prSet/>
      <dgm:spPr/>
      <dgm:t>
        <a:bodyPr/>
        <a:lstStyle/>
        <a:p>
          <a:endParaRPr lang="zh-CN" altLang="en-US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8A7916B-E5EA-45F2-A813-42386DED29FA}" type="pres">
      <dgm:prSet presAssocID="{5883DDB0-FFFC-421A-84B4-C7543C8AB8D8}" presName="composite" presStyleCnt="0">
        <dgm:presLayoutVars>
          <dgm:chMax val="1"/>
          <dgm:dir/>
          <dgm:resizeHandles val="exact"/>
        </dgm:presLayoutVars>
      </dgm:prSet>
      <dgm:spPr/>
    </dgm:pt>
    <dgm:pt modelId="{4A6EA6EA-5557-4CE0-813B-DDDFD47ACC6B}" type="pres">
      <dgm:prSet presAssocID="{5883DDB0-FFFC-421A-84B4-C7543C8AB8D8}" presName="radial" presStyleCnt="0">
        <dgm:presLayoutVars>
          <dgm:animLvl val="ctr"/>
        </dgm:presLayoutVars>
      </dgm:prSet>
      <dgm:spPr/>
    </dgm:pt>
    <dgm:pt modelId="{0F772B82-01A2-46B7-B037-DA4AE644E8B5}" type="pres">
      <dgm:prSet presAssocID="{9AAE508E-65E7-4A26-BBE9-9664F53BD1A3}" presName="centerShape" presStyleLbl="vennNode1" presStyleIdx="0" presStyleCnt="5"/>
      <dgm:spPr/>
    </dgm:pt>
    <dgm:pt modelId="{98605A76-6266-4548-A1E7-879E73EB9877}" type="pres">
      <dgm:prSet presAssocID="{B4161527-E84E-41BD-A4B7-4E1DA59F33CB}" presName="node" presStyleLbl="vennNode1" presStyleIdx="1" presStyleCnt="5">
        <dgm:presLayoutVars>
          <dgm:bulletEnabled val="1"/>
        </dgm:presLayoutVars>
      </dgm:prSet>
      <dgm:spPr/>
    </dgm:pt>
    <dgm:pt modelId="{11D08A07-D65B-4FB4-875D-89F15ABCDB4D}" type="pres">
      <dgm:prSet presAssocID="{8B009DC1-72EC-404D-9926-5E7E3416BD84}" presName="node" presStyleLbl="vennNode1" presStyleIdx="2" presStyleCnt="5">
        <dgm:presLayoutVars>
          <dgm:bulletEnabled val="1"/>
        </dgm:presLayoutVars>
      </dgm:prSet>
      <dgm:spPr/>
    </dgm:pt>
    <dgm:pt modelId="{D3447B3E-3C71-4C1A-9739-42F66D00DB68}" type="pres">
      <dgm:prSet presAssocID="{3CE9ACC0-15AF-4FA0-9590-293316F797D1}" presName="node" presStyleLbl="vennNode1" presStyleIdx="3" presStyleCnt="5">
        <dgm:presLayoutVars>
          <dgm:bulletEnabled val="1"/>
        </dgm:presLayoutVars>
      </dgm:prSet>
      <dgm:spPr/>
    </dgm:pt>
    <dgm:pt modelId="{8E771D08-D924-4A08-9181-D3815A065757}" type="pres">
      <dgm:prSet presAssocID="{8037B6EF-DBAC-4B62-9FCE-202C0DB198C2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62497A19-4151-4235-9F80-9E2AAE4321DB}" type="presOf" srcId="{B4161527-E84E-41BD-A4B7-4E1DA59F33CB}" destId="{98605A76-6266-4548-A1E7-879E73EB9877}" srcOrd="0" destOrd="0" presId="urn:microsoft.com/office/officeart/2005/8/layout/radial3"/>
    <dgm:cxn modelId="{A5E5525D-568C-42AD-B7EA-195074C738C0}" type="presOf" srcId="{9AAE508E-65E7-4A26-BBE9-9664F53BD1A3}" destId="{0F772B82-01A2-46B7-B037-DA4AE644E8B5}" srcOrd="0" destOrd="0" presId="urn:microsoft.com/office/officeart/2005/8/layout/radial3"/>
    <dgm:cxn modelId="{328BB155-8A46-4EC3-834B-426EB5C2F033}" type="presOf" srcId="{5883DDB0-FFFC-421A-84B4-C7543C8AB8D8}" destId="{48A7916B-E5EA-45F2-A813-42386DED29FA}" srcOrd="0" destOrd="0" presId="urn:microsoft.com/office/officeart/2005/8/layout/radial3"/>
    <dgm:cxn modelId="{0A747376-1689-490A-AB90-2DB5850FFE6D}" srcId="{9AAE508E-65E7-4A26-BBE9-9664F53BD1A3}" destId="{3CE9ACC0-15AF-4FA0-9590-293316F797D1}" srcOrd="2" destOrd="0" parTransId="{66CBCEA7-F3EF-4407-A363-1D8DA5744E7C}" sibTransId="{30A70413-6653-4CD3-8C54-55D024050C72}"/>
    <dgm:cxn modelId="{4559307C-E1F3-4982-9FC2-69A2132AEF1A}" srcId="{9AAE508E-65E7-4A26-BBE9-9664F53BD1A3}" destId="{8037B6EF-DBAC-4B62-9FCE-202C0DB198C2}" srcOrd="3" destOrd="0" parTransId="{BF73AD58-3351-4584-9986-691532F16E24}" sibTransId="{18ACCFC0-9C42-44A7-B1D3-03D88BA56566}"/>
    <dgm:cxn modelId="{D66F7C91-02FD-4F20-BA34-A658803B6932}" srcId="{9AAE508E-65E7-4A26-BBE9-9664F53BD1A3}" destId="{8B009DC1-72EC-404D-9926-5E7E3416BD84}" srcOrd="1" destOrd="0" parTransId="{4A0B23F6-16E5-462A-B315-2CEFE501216F}" sibTransId="{C6C04511-4745-4D33-B364-AA1ED32DB459}"/>
    <dgm:cxn modelId="{F1912C94-8C0D-4066-BDF3-30C467701474}" srcId="{9AAE508E-65E7-4A26-BBE9-9664F53BD1A3}" destId="{B4161527-E84E-41BD-A4B7-4E1DA59F33CB}" srcOrd="0" destOrd="0" parTransId="{8256A881-69AB-413C-B434-0D7CEC680480}" sibTransId="{9E1C6026-2845-461A-8792-8521FFBCDD58}"/>
    <dgm:cxn modelId="{C6D616C0-09DB-4480-B291-577637981E1C}" srcId="{5883DDB0-FFFC-421A-84B4-C7543C8AB8D8}" destId="{9AAE508E-65E7-4A26-BBE9-9664F53BD1A3}" srcOrd="0" destOrd="0" parTransId="{0CF693AF-AE1C-4EEA-8A36-AF3C2CF71615}" sibTransId="{318AAB6C-9CFF-4BAB-B583-3C023C519115}"/>
    <dgm:cxn modelId="{57CC86C2-4AF4-4A5B-AAF1-760495001D9D}" type="presOf" srcId="{3CE9ACC0-15AF-4FA0-9590-293316F797D1}" destId="{D3447B3E-3C71-4C1A-9739-42F66D00DB68}" srcOrd="0" destOrd="0" presId="urn:microsoft.com/office/officeart/2005/8/layout/radial3"/>
    <dgm:cxn modelId="{B53AD0D5-DFE0-41C4-B79D-CC40A04C5570}" type="presOf" srcId="{8037B6EF-DBAC-4B62-9FCE-202C0DB198C2}" destId="{8E771D08-D924-4A08-9181-D3815A065757}" srcOrd="0" destOrd="0" presId="urn:microsoft.com/office/officeart/2005/8/layout/radial3"/>
    <dgm:cxn modelId="{F7143FF4-11E9-4982-A07E-19A6AD711C95}" type="presOf" srcId="{8B009DC1-72EC-404D-9926-5E7E3416BD84}" destId="{11D08A07-D65B-4FB4-875D-89F15ABCDB4D}" srcOrd="0" destOrd="0" presId="urn:microsoft.com/office/officeart/2005/8/layout/radial3"/>
    <dgm:cxn modelId="{52D48C98-E02D-4C78-BC1C-3F28981AF108}" type="presParOf" srcId="{48A7916B-E5EA-45F2-A813-42386DED29FA}" destId="{4A6EA6EA-5557-4CE0-813B-DDDFD47ACC6B}" srcOrd="0" destOrd="0" presId="urn:microsoft.com/office/officeart/2005/8/layout/radial3"/>
    <dgm:cxn modelId="{F20A8C54-8FF7-44F8-B220-42B3177C810E}" type="presParOf" srcId="{4A6EA6EA-5557-4CE0-813B-DDDFD47ACC6B}" destId="{0F772B82-01A2-46B7-B037-DA4AE644E8B5}" srcOrd="0" destOrd="0" presId="urn:microsoft.com/office/officeart/2005/8/layout/radial3"/>
    <dgm:cxn modelId="{89D018D8-4B6A-4429-93D4-067FE48A15DA}" type="presParOf" srcId="{4A6EA6EA-5557-4CE0-813B-DDDFD47ACC6B}" destId="{98605A76-6266-4548-A1E7-879E73EB9877}" srcOrd="1" destOrd="0" presId="urn:microsoft.com/office/officeart/2005/8/layout/radial3"/>
    <dgm:cxn modelId="{FFA0BA7B-C694-4B55-9072-71DF6802F1F6}" type="presParOf" srcId="{4A6EA6EA-5557-4CE0-813B-DDDFD47ACC6B}" destId="{11D08A07-D65B-4FB4-875D-89F15ABCDB4D}" srcOrd="2" destOrd="0" presId="urn:microsoft.com/office/officeart/2005/8/layout/radial3"/>
    <dgm:cxn modelId="{8DB845C4-E27A-417E-B8F1-FF04D2B590E8}" type="presParOf" srcId="{4A6EA6EA-5557-4CE0-813B-DDDFD47ACC6B}" destId="{D3447B3E-3C71-4C1A-9739-42F66D00DB68}" srcOrd="3" destOrd="0" presId="urn:microsoft.com/office/officeart/2005/8/layout/radial3"/>
    <dgm:cxn modelId="{C50334FE-EAED-479C-A4DE-8DCB281BE651}" type="presParOf" srcId="{4A6EA6EA-5557-4CE0-813B-DDDFD47ACC6B}" destId="{8E771D08-D924-4A08-9181-D3815A065757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772B82-01A2-46B7-B037-DA4AE644E8B5}">
      <dsp:nvSpPr>
        <dsp:cNvPr id="0" name=""/>
        <dsp:cNvSpPr/>
      </dsp:nvSpPr>
      <dsp:spPr>
        <a:xfrm>
          <a:off x="1682956" y="792797"/>
          <a:ext cx="1975039" cy="1975039"/>
        </a:xfrm>
        <a:prstGeom prst="ellipse">
          <a:avLst/>
        </a:prstGeom>
        <a:solidFill>
          <a:schemeClr val="accent1">
            <a:alpha val="58000"/>
          </a:schemeClr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600" b="1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972194" y="1082035"/>
        <a:ext cx="1396563" cy="1396563"/>
      </dsp:txXfrm>
    </dsp:sp>
    <dsp:sp modelId="{98605A76-6266-4548-A1E7-879E73EB9877}">
      <dsp:nvSpPr>
        <dsp:cNvPr id="0" name=""/>
        <dsp:cNvSpPr/>
      </dsp:nvSpPr>
      <dsp:spPr>
        <a:xfrm>
          <a:off x="2176716" y="352"/>
          <a:ext cx="987519" cy="987519"/>
        </a:xfrm>
        <a:prstGeom prst="ellipse">
          <a:avLst/>
        </a:prstGeom>
        <a:solidFill>
          <a:schemeClr val="accent1">
            <a:alpha val="58000"/>
          </a:schemeClr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endParaRPr lang="zh-CN" altLang="en-US" sz="3600" b="1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21335" y="144971"/>
        <a:ext cx="698281" cy="698281"/>
      </dsp:txXfrm>
    </dsp:sp>
    <dsp:sp modelId="{11D08A07-D65B-4FB4-875D-89F15ABCDB4D}">
      <dsp:nvSpPr>
        <dsp:cNvPr id="0" name=""/>
        <dsp:cNvSpPr/>
      </dsp:nvSpPr>
      <dsp:spPr>
        <a:xfrm>
          <a:off x="3462921" y="1286557"/>
          <a:ext cx="987519" cy="987519"/>
        </a:xfrm>
        <a:prstGeom prst="ellipse">
          <a:avLst/>
        </a:prstGeom>
        <a:solidFill>
          <a:schemeClr val="accent1">
            <a:alpha val="58000"/>
          </a:schemeClr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endParaRPr lang="zh-CN" altLang="en-US" sz="3600" b="1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07540" y="1431176"/>
        <a:ext cx="698281" cy="698281"/>
      </dsp:txXfrm>
    </dsp:sp>
    <dsp:sp modelId="{D3447B3E-3C71-4C1A-9739-42F66D00DB68}">
      <dsp:nvSpPr>
        <dsp:cNvPr id="0" name=""/>
        <dsp:cNvSpPr/>
      </dsp:nvSpPr>
      <dsp:spPr>
        <a:xfrm>
          <a:off x="2176716" y="2572762"/>
          <a:ext cx="987519" cy="987519"/>
        </a:xfrm>
        <a:prstGeom prst="ellipse">
          <a:avLst/>
        </a:prstGeom>
        <a:solidFill>
          <a:schemeClr val="accent1">
            <a:alpha val="58000"/>
          </a:schemeClr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endParaRPr lang="zh-CN" altLang="en-US" sz="3600" b="1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21335" y="2717381"/>
        <a:ext cx="698281" cy="698281"/>
      </dsp:txXfrm>
    </dsp:sp>
    <dsp:sp modelId="{8E771D08-D924-4A08-9181-D3815A065757}">
      <dsp:nvSpPr>
        <dsp:cNvPr id="0" name=""/>
        <dsp:cNvSpPr/>
      </dsp:nvSpPr>
      <dsp:spPr>
        <a:xfrm>
          <a:off x="890511" y="1286557"/>
          <a:ext cx="987519" cy="987519"/>
        </a:xfrm>
        <a:prstGeom prst="ellipse">
          <a:avLst/>
        </a:prstGeom>
        <a:solidFill>
          <a:schemeClr val="accent1">
            <a:alpha val="58000"/>
          </a:schemeClr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endParaRPr lang="zh-CN" altLang="en-US" sz="3600" b="1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035130" y="1431176"/>
        <a:ext cx="698281" cy="6982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F14F377-0ECF-4DA3-BC32-B18EF7DEE4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573058"/>
            <a:ext cx="12192000" cy="2857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26009" t="-18105" r="1201" b="1"/>
          <a:stretch/>
        </p:blipFill>
        <p:spPr>
          <a:xfrm>
            <a:off x="-8468" y="2560319"/>
            <a:ext cx="12200467" cy="660689"/>
          </a:xfrm>
          <a:prstGeom prst="rect">
            <a:avLst/>
          </a:prstGeom>
        </p:spPr>
      </p:pic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0903F1C-568E-4080-8C79-B487B35A71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102835" y="4544189"/>
            <a:ext cx="3975953" cy="45402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fld id="{E42970F4-9EF3-4E0A-91E0-2B480D8FBBAF}" type="datetime2">
              <a:rPr lang="zh-CN" altLang="en-US" smtClean="0"/>
              <a:t>2022年1月4日</a:t>
            </a:fld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9F58A51-73B7-41F3-A074-0449CB9FBE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" y="5086796"/>
            <a:ext cx="4225394" cy="138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56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95" descr="图片包含 天空, 泰迪熊, 熊, 建筑物&#10;&#10;自动生成的说明">
            <a:extLst>
              <a:ext uri="{FF2B5EF4-FFF2-40B4-BE49-F238E27FC236}">
                <a16:creationId xmlns:a16="http://schemas.microsoft.com/office/drawing/2014/main" id="{EE79199E-F6B2-4AB7-AD45-DF9746ABEC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0" r="23380"/>
          <a:stretch/>
        </p:blipFill>
        <p:spPr>
          <a:xfrm>
            <a:off x="0" y="2109743"/>
            <a:ext cx="3705223" cy="474825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0" y="1"/>
            <a:ext cx="3705225" cy="3230879"/>
            <a:chOff x="0" y="1"/>
            <a:chExt cx="3705225" cy="3230879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1"/>
              <a:ext cx="3705225" cy="21234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2123439"/>
              <a:ext cx="3705225" cy="110744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224" y="2047874"/>
            <a:ext cx="8486775" cy="3457575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569118" y="1160150"/>
            <a:ext cx="256698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目  录</a:t>
            </a:r>
            <a:endParaRPr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rPr>
              <a:t>CONTENT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j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F58A51-73B7-41F3-A074-0449CB9FBE7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0" y="198623"/>
            <a:ext cx="2847974" cy="93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68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813832" y="0"/>
            <a:ext cx="4824967" cy="6858000"/>
            <a:chOff x="975757" y="0"/>
            <a:chExt cx="4824967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7" y="0"/>
              <a:ext cx="4824967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ONE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818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58" y="0"/>
            <a:ext cx="4824967" cy="6858000"/>
          </a:xfrm>
          <a:prstGeom prst="rect">
            <a:avLst/>
          </a:prstGeom>
          <a:effectLst>
            <a:outerShdw blurRad="114300" dist="139700" algn="l" rotWithShape="0">
              <a:prstClr val="black">
                <a:alpha val="20000"/>
              </a:prstClr>
            </a:outerShdw>
          </a:effectLst>
        </p:spPr>
      </p:pic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 userDrawn="1"/>
        </p:nvSpPr>
        <p:spPr>
          <a:xfrm>
            <a:off x="7089775" y="3089701"/>
            <a:ext cx="3645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rPr>
              <a:t>PART ONE</a:t>
            </a:r>
            <a:endParaRPr lang="zh-CN" altLang="en-U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j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5861CDE-5CCC-4EC9-AAE6-4DDC185E1B6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46" y="1068380"/>
            <a:ext cx="1867505" cy="15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57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2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813833" y="0"/>
            <a:ext cx="4824966" cy="6858000"/>
            <a:chOff x="975758" y="0"/>
            <a:chExt cx="4824966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8" y="0"/>
              <a:ext cx="4824966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TWO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736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6500259" y="0"/>
            <a:ext cx="4824966" cy="6858000"/>
            <a:chOff x="975758" y="0"/>
            <a:chExt cx="4824966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8" y="0"/>
              <a:ext cx="4824966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TWO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231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813831" y="0"/>
            <a:ext cx="4824967" cy="6858000"/>
            <a:chOff x="813831" y="0"/>
            <a:chExt cx="4824967" cy="6858000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813831" y="0"/>
              <a:ext cx="4824967" cy="6858000"/>
              <a:chOff x="975756" y="0"/>
              <a:chExt cx="4824967" cy="6858000"/>
            </a:xfrm>
          </p:grpSpPr>
          <p:pic>
            <p:nvPicPr>
              <p:cNvPr id="8" name="图片 7"/>
              <p:cNvPicPr>
                <a:picLocks noChangeAspect="1"/>
              </p:cNvPicPr>
              <p:nvPr userDrawn="1"/>
            </p:nvPicPr>
            <p:blipFill>
              <a:blip r:embed="rId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25000"/>
                        </a14:imgEffect>
                        <a14:imgEffect>
                          <a14:colorTemperature colorTemp="7200"/>
                        </a14:imgEffect>
                        <a14:imgEffect>
                          <a14:brightnessContrast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5756" y="0"/>
                <a:ext cx="4824967" cy="6858000"/>
              </a:xfrm>
              <a:prstGeom prst="rect">
                <a:avLst/>
              </a:prstGeom>
              <a:effectLst>
                <a:outerShdw blurRad="114300" dist="139700" algn="l" rotWithShape="0">
                  <a:prstClr val="black">
                    <a:alpha val="20000"/>
                  </a:prstClr>
                </a:outerShdw>
              </a:effectLst>
            </p:spPr>
          </p:pic>
          <p:sp>
            <p:nvSpPr>
              <p:cNvPr id="11" name="文本框 10"/>
              <p:cNvSpPr txBox="1"/>
              <p:nvPr userDrawn="1"/>
            </p:nvSpPr>
            <p:spPr>
              <a:xfrm>
                <a:off x="1266825" y="3089701"/>
                <a:ext cx="42576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zh-CN" sz="4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j-ea"/>
                  </a:rPr>
                  <a:t>PART THREE</a:t>
                </a:r>
                <a:endParaRPr lang="zh-CN" altLang="en-US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endParaRPr>
              </a:p>
            </p:txBody>
          </p:sp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B5861CDE-5CCC-4EC9-AAE6-4DDC185E1B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6845" y="1068380"/>
                <a:ext cx="1867505" cy="1523492"/>
              </a:xfrm>
              <a:prstGeom prst="rect">
                <a:avLst/>
              </a:prstGeom>
            </p:spPr>
          </p:pic>
        </p:grpSp>
        <p:sp>
          <p:nvSpPr>
            <p:cNvPr id="2" name="矩形 1"/>
            <p:cNvSpPr/>
            <p:nvPr userDrawn="1"/>
          </p:nvSpPr>
          <p:spPr>
            <a:xfrm>
              <a:off x="2738438" y="4081463"/>
              <a:ext cx="1204912" cy="369848"/>
            </a:xfrm>
            <a:prstGeom prst="rect">
              <a:avLst/>
            </a:prstGeom>
            <a:solidFill>
              <a:srgbClr val="B5A3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591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 userDrawn="1"/>
        </p:nvGrpSpPr>
        <p:grpSpPr>
          <a:xfrm>
            <a:off x="6500256" y="0"/>
            <a:ext cx="4824967" cy="6858000"/>
            <a:chOff x="813831" y="0"/>
            <a:chExt cx="4824967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25000"/>
                      </a14:imgEffect>
                      <a14:imgEffect>
                        <a14:colorTemperature colorTemp="72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831" y="0"/>
              <a:ext cx="4824967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2" name="矩形 11"/>
            <p:cNvSpPr/>
            <p:nvPr userDrawn="1"/>
          </p:nvSpPr>
          <p:spPr>
            <a:xfrm>
              <a:off x="2738438" y="4081463"/>
              <a:ext cx="1204912" cy="369848"/>
            </a:xfrm>
            <a:prstGeom prst="rect">
              <a:avLst/>
            </a:prstGeom>
            <a:solidFill>
              <a:srgbClr val="B5A3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500257" y="1068380"/>
            <a:ext cx="4824968" cy="2852318"/>
            <a:chOff x="975756" y="1068380"/>
            <a:chExt cx="4824968" cy="2852318"/>
          </a:xfrm>
        </p:grpSpPr>
        <p:sp>
          <p:nvSpPr>
            <p:cNvPr id="11" name="文本框 10"/>
            <p:cNvSpPr txBox="1"/>
            <p:nvPr userDrawn="1"/>
          </p:nvSpPr>
          <p:spPr>
            <a:xfrm>
              <a:off x="975756" y="3089701"/>
              <a:ext cx="48249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THREE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218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4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821252" y="0"/>
            <a:ext cx="4824969" cy="6858000"/>
            <a:chOff x="975755" y="0"/>
            <a:chExt cx="4824969" cy="685800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5" y="0"/>
              <a:ext cx="4824969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9" name="文本框 18"/>
            <p:cNvSpPr txBox="1"/>
            <p:nvPr userDrawn="1"/>
          </p:nvSpPr>
          <p:spPr>
            <a:xfrm>
              <a:off x="1295399" y="3089701"/>
              <a:ext cx="4219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FOUR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1806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4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0" y="3719299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6500256" y="0"/>
            <a:ext cx="4824969" cy="6858000"/>
            <a:chOff x="975755" y="0"/>
            <a:chExt cx="4824969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5" y="0"/>
              <a:ext cx="4824969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295399" y="3089701"/>
              <a:ext cx="4219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FOUR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395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606" t="-18105" r="1201" b="1"/>
            <a:stretch/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1"/>
          </p:nvPr>
        </p:nvSpPr>
        <p:spPr>
          <a:xfrm>
            <a:off x="639763" y="1420813"/>
            <a:ext cx="10964862" cy="4656137"/>
          </a:xfrm>
        </p:spPr>
        <p:txBody>
          <a:bodyPr/>
          <a:lstStyle>
            <a:lvl1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8001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2573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1419"/>
          <a:stretch/>
        </p:blipFill>
        <p:spPr>
          <a:xfrm>
            <a:off x="193905" y="122669"/>
            <a:ext cx="659535" cy="61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68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606" t="-18105" r="1201" b="1"/>
            <a:stretch/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19"/>
            <a:stretch/>
          </p:blipFill>
          <p:spPr>
            <a:xfrm>
              <a:off x="193905" y="122669"/>
              <a:ext cx="659535" cy="610870"/>
            </a:xfrm>
            <a:prstGeom prst="rect">
              <a:avLst/>
            </a:prstGeom>
          </p:spPr>
        </p:pic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8652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606" t="-18105" r="1201" b="1"/>
            <a:stretch/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19"/>
            <a:stretch/>
          </p:blipFill>
          <p:spPr>
            <a:xfrm>
              <a:off x="193905" y="122669"/>
              <a:ext cx="659535" cy="610870"/>
            </a:xfrm>
            <a:prstGeom prst="rect">
              <a:avLst/>
            </a:prstGeom>
          </p:spPr>
        </p:pic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4165AA-94F5-4EF4-BE8B-8385615DC60A}"/>
              </a:ext>
            </a:extLst>
          </p:cNvPr>
          <p:cNvSpPr/>
          <p:nvPr userDrawn="1"/>
        </p:nvSpPr>
        <p:spPr>
          <a:xfrm>
            <a:off x="140671" y="6291045"/>
            <a:ext cx="56697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SJTU ICON LIBRARY Copyright © 2021 Invictus. All rights reserved. 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047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纯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8666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F14F377-0ECF-4DA3-BC32-B18EF7DEE4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573058"/>
            <a:ext cx="12192000" cy="38871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26009" t="-18105" r="1201" b="1"/>
          <a:stretch/>
        </p:blipFill>
        <p:spPr>
          <a:xfrm>
            <a:off x="-8468" y="3503541"/>
            <a:ext cx="12200467" cy="66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19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5409398"/>
          </a:xfrm>
        </p:grpSpPr>
        <p:sp>
          <p:nvSpPr>
            <p:cNvPr id="2" name="矩形 1"/>
            <p:cNvSpPr/>
            <p:nvPr userDrawn="1"/>
          </p:nvSpPr>
          <p:spPr>
            <a:xfrm>
              <a:off x="0" y="3295018"/>
              <a:ext cx="12192000" cy="2114380"/>
            </a:xfrm>
            <a:prstGeom prst="rect">
              <a:avLst/>
            </a:prstGeom>
            <a:gradFill>
              <a:gsLst>
                <a:gs pos="0">
                  <a:schemeClr val="accent1">
                    <a:alpha val="6200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-1" y="0"/>
              <a:ext cx="12192001" cy="32950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26009" t="-18105" r="1201" b="1"/>
          <a:stretch/>
        </p:blipFill>
        <p:spPr>
          <a:xfrm>
            <a:off x="0" y="5877294"/>
            <a:ext cx="12200467" cy="6606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861CDE-5CCC-4EC9-AAE6-4DDC185E1B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640" y="350311"/>
            <a:ext cx="2534311" cy="206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5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4518D-F1E1-42FE-ADB3-4B6EED642878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756E6-AE62-4EF0-9CF6-DF3EBBB783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38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6" r:id="rId3"/>
    <p:sldLayoutId id="2147483667" r:id="rId4"/>
    <p:sldLayoutId id="2147483670" r:id="rId5"/>
    <p:sldLayoutId id="2147483672" r:id="rId6"/>
    <p:sldLayoutId id="2147483668" r:id="rId7"/>
    <p:sldLayoutId id="2147483673" r:id="rId8"/>
    <p:sldLayoutId id="2147483671" r:id="rId9"/>
    <p:sldLayoutId id="2147483669" r:id="rId10"/>
    <p:sldLayoutId id="2147483661" r:id="rId11"/>
    <p:sldLayoutId id="2147483664" r:id="rId12"/>
    <p:sldLayoutId id="2147483674" r:id="rId13"/>
    <p:sldLayoutId id="2147483663" r:id="rId14"/>
    <p:sldLayoutId id="2147483665" r:id="rId15"/>
    <p:sldLayoutId id="2147483662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2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32.jpeg"/><Relationship Id="rId4" Type="http://schemas.openxmlformats.org/officeDocument/2006/relationships/image" Target="../media/image3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45.jpeg"/><Relationship Id="rId3" Type="http://schemas.openxmlformats.org/officeDocument/2006/relationships/image" Target="../media/image37.png"/><Relationship Id="rId7" Type="http://schemas.openxmlformats.org/officeDocument/2006/relationships/image" Target="../media/image31.png"/><Relationship Id="rId12" Type="http://schemas.openxmlformats.org/officeDocument/2006/relationships/image" Target="../media/image44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11" Type="http://schemas.openxmlformats.org/officeDocument/2006/relationships/image" Target="../media/image43.jpeg"/><Relationship Id="rId5" Type="http://schemas.openxmlformats.org/officeDocument/2006/relationships/image" Target="../media/image39.jpeg"/><Relationship Id="rId10" Type="http://schemas.openxmlformats.org/officeDocument/2006/relationships/image" Target="../media/image42.jpeg"/><Relationship Id="rId4" Type="http://schemas.openxmlformats.org/officeDocument/2006/relationships/image" Target="../media/image38.png"/><Relationship Id="rId9" Type="http://schemas.openxmlformats.org/officeDocument/2006/relationships/image" Target="../media/image4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CN" dirty="0"/>
              <a:t>2026/01/07</a:t>
            </a:r>
            <a:endParaRPr lang="zh-CN" altLang="en-US" dirty="0"/>
          </a:p>
        </p:txBody>
      </p:sp>
      <p:sp>
        <p:nvSpPr>
          <p:cNvPr id="5" name="文本占位符 11"/>
          <p:cNvSpPr txBox="1">
            <a:spLocks/>
          </p:cNvSpPr>
          <p:nvPr/>
        </p:nvSpPr>
        <p:spPr>
          <a:xfrm>
            <a:off x="628650" y="1098957"/>
            <a:ext cx="10982325" cy="1447800"/>
          </a:xfrm>
          <a:prstGeom prst="rect">
            <a:avLst/>
          </a:prstGeom>
        </p:spPr>
        <p:txBody>
          <a:bodyPr lIns="144000" tIns="144000" rIns="144000" bIns="14400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多媒体内容安全大作业汇报</a:t>
            </a:r>
          </a:p>
        </p:txBody>
      </p:sp>
      <p:sp>
        <p:nvSpPr>
          <p:cNvPr id="6" name="文本占位符 11"/>
          <p:cNvSpPr txBox="1">
            <a:spLocks/>
          </p:cNvSpPr>
          <p:nvPr/>
        </p:nvSpPr>
        <p:spPr>
          <a:xfrm>
            <a:off x="2382933" y="3634988"/>
            <a:ext cx="7385241" cy="771882"/>
          </a:xfrm>
          <a:prstGeom prst="rect">
            <a:avLst/>
          </a:prstGeom>
        </p:spPr>
        <p:txBody>
          <a:bodyPr lIns="144000" tIns="144000" rIns="144000" bIns="144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6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周义欣、王椤贇、谢宇轩</a:t>
            </a:r>
          </a:p>
        </p:txBody>
      </p:sp>
    </p:spTree>
    <p:extLst>
      <p:ext uri="{BB962C8B-B14F-4D97-AF65-F5344CB8AC3E}">
        <p14:creationId xmlns:p14="http://schemas.microsoft.com/office/powerpoint/2010/main" val="189594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1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943600" y="1908279"/>
            <a:ext cx="5467350" cy="1638300"/>
          </a:xfrm>
        </p:spPr>
        <p:txBody>
          <a:bodyPr lIns="144000" tIns="144000" rIns="144000" bIns="1440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en-US" altLang="zh-CN" dirty="0"/>
              <a:t>AIGC</a:t>
            </a:r>
            <a:r>
              <a:rPr lang="zh-CN" altLang="en-US" dirty="0"/>
              <a:t>图片生成</a:t>
            </a:r>
          </a:p>
        </p:txBody>
      </p:sp>
    </p:spTree>
    <p:extLst>
      <p:ext uri="{BB962C8B-B14F-4D97-AF65-F5344CB8AC3E}">
        <p14:creationId xmlns:p14="http://schemas.microsoft.com/office/powerpoint/2010/main" val="1580039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AIGC</a:t>
            </a:r>
            <a:r>
              <a:rPr lang="zh-CN" altLang="en-US" dirty="0"/>
              <a:t>任务概述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4EA7E2-284B-4D46-B3BF-A9F868BB2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93" y="1473678"/>
            <a:ext cx="1446178" cy="7699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0EEC663-354F-4959-B7F1-400B1253AB3D}"/>
              </a:ext>
            </a:extLst>
          </p:cNvPr>
          <p:cNvSpPr txBox="1"/>
          <p:nvPr/>
        </p:nvSpPr>
        <p:spPr>
          <a:xfrm>
            <a:off x="318792" y="2203324"/>
            <a:ext cx="352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AIGC</a:t>
            </a:r>
            <a:r>
              <a:rPr lang="zh-CN" altLang="en-US" sz="2400" b="1" dirty="0">
                <a:latin typeface="+mn-ea"/>
              </a:rPr>
              <a:t>文生图任务：</a:t>
            </a:r>
          </a:p>
        </p:txBody>
      </p:sp>
      <p:sp>
        <p:nvSpPr>
          <p:cNvPr id="11" name="内容占位符 16">
            <a:extLst>
              <a:ext uri="{FF2B5EF4-FFF2-40B4-BE49-F238E27FC236}">
                <a16:creationId xmlns:a16="http://schemas.microsoft.com/office/drawing/2014/main" id="{B895BE69-38C9-4742-867A-57874DEA68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8792" y="3293532"/>
            <a:ext cx="7103990" cy="2437434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/>
              <a:t>目标：</a:t>
            </a:r>
            <a:r>
              <a:rPr lang="zh-CN" altLang="en-US" sz="2000" dirty="0"/>
              <a:t>根据给定的文本提示词，生成</a:t>
            </a:r>
            <a:r>
              <a:rPr lang="zh-CN" altLang="en-US" sz="2000" dirty="0">
                <a:solidFill>
                  <a:schemeClr val="accent1"/>
                </a:solidFill>
              </a:rPr>
              <a:t>真实且美观</a:t>
            </a:r>
            <a:r>
              <a:rPr lang="zh-CN" altLang="en-US" sz="2000" dirty="0"/>
              <a:t>的图片。</a:t>
            </a:r>
            <a:endParaRPr lang="en-US" altLang="zh-CN" sz="2000" dirty="0"/>
          </a:p>
          <a:p>
            <a:r>
              <a:rPr lang="zh-CN" altLang="en-US" sz="2000" b="1" dirty="0"/>
              <a:t>挑战：</a:t>
            </a:r>
            <a:endParaRPr lang="en-US" altLang="zh-CN" sz="20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accent1"/>
                </a:solidFill>
              </a:rPr>
              <a:t>提示词覆盖多种风格（写实、科幻、荒诞</a:t>
            </a:r>
            <a:r>
              <a:rPr lang="en-US" altLang="zh-CN" sz="2000" dirty="0">
                <a:solidFill>
                  <a:schemeClr val="accent1"/>
                </a:solidFill>
              </a:rPr>
              <a:t>……</a:t>
            </a:r>
            <a:r>
              <a:rPr lang="zh-CN" altLang="en-US" sz="2000" dirty="0">
                <a:solidFill>
                  <a:schemeClr val="accent1"/>
                </a:solidFill>
              </a:rPr>
              <a:t>）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accent1"/>
                </a:solidFill>
              </a:rPr>
              <a:t>主题和技术要求多样（人物、风景、幻想</a:t>
            </a:r>
            <a:r>
              <a:rPr lang="en-US" altLang="zh-CN" sz="2000" dirty="0">
                <a:solidFill>
                  <a:schemeClr val="accent1"/>
                </a:solidFill>
              </a:rPr>
              <a:t>……</a:t>
            </a:r>
            <a:r>
              <a:rPr lang="zh-CN" altLang="en-US" sz="2000" dirty="0">
                <a:solidFill>
                  <a:schemeClr val="accent1"/>
                </a:solidFill>
              </a:rPr>
              <a:t>）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accent1"/>
                </a:solidFill>
              </a:rPr>
              <a:t>需要保证高泛化性以应对多样生成需求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AA30731-DF52-48C2-8ED9-E3644A67CB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23" y="1586606"/>
            <a:ext cx="2025465" cy="202546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BE7717C-1B11-4F32-81BB-3282B61169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23" y="4212836"/>
            <a:ext cx="4209959" cy="229634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6B96B97-D9D5-47D9-B691-5F2EBE5125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589" y="1586606"/>
            <a:ext cx="2045559" cy="204555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F30B22E-1D63-4162-9BDC-4A46BC69DCC9}"/>
              </a:ext>
            </a:extLst>
          </p:cNvPr>
          <p:cNvSpPr txBox="1"/>
          <p:nvPr/>
        </p:nvSpPr>
        <p:spPr>
          <a:xfrm>
            <a:off x="7283763" y="1205449"/>
            <a:ext cx="2276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写实、人物、风景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C6C94C-B27C-4A76-AFB5-3AD9175746F2}"/>
              </a:ext>
            </a:extLst>
          </p:cNvPr>
          <p:cNvSpPr txBox="1"/>
          <p:nvPr/>
        </p:nvSpPr>
        <p:spPr>
          <a:xfrm>
            <a:off x="9906002" y="1212105"/>
            <a:ext cx="144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荒诞、幻想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3BCB48-6331-4A3E-B1BE-3B511CD30322}"/>
              </a:ext>
            </a:extLst>
          </p:cNvPr>
          <p:cNvSpPr txBox="1"/>
          <p:nvPr/>
        </p:nvSpPr>
        <p:spPr>
          <a:xfrm>
            <a:off x="8863594" y="3863598"/>
            <a:ext cx="144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科幻、幻想</a:t>
            </a:r>
          </a:p>
        </p:txBody>
      </p:sp>
    </p:spTree>
    <p:extLst>
      <p:ext uri="{BB962C8B-B14F-4D97-AF65-F5344CB8AC3E}">
        <p14:creationId xmlns:p14="http://schemas.microsoft.com/office/powerpoint/2010/main" val="300365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5E7E-93A4-2630-39E5-5DAC6D9B2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4A8C479-D1D6-D385-6ABD-1D472FF9AC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指标导向：</a:t>
            </a:r>
            <a:r>
              <a:rPr lang="en-US" altLang="zh-CN" dirty="0" err="1"/>
              <a:t>VIEScore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CE887-5A6D-96CA-DA16-20B87DCD79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24603" y="2033752"/>
            <a:ext cx="6060582" cy="4388069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语义一致性 </a:t>
            </a:r>
            <a:r>
              <a:rPr lang="en-US" altLang="zh-CN" sz="2400" dirty="0"/>
              <a:t>(Semantic Consistency, SC)</a:t>
            </a:r>
            <a:r>
              <a:rPr lang="zh-CN" altLang="en-US" sz="2400" dirty="0"/>
              <a:t>：</a:t>
            </a:r>
          </a:p>
          <a:p>
            <a:pPr lvl="1"/>
            <a:r>
              <a:rPr lang="zh-CN" altLang="en-US" sz="2000" dirty="0"/>
              <a:t>关注点：图像是否</a:t>
            </a:r>
            <a:r>
              <a:rPr lang="zh-CN" altLang="en-US" sz="2000" dirty="0">
                <a:solidFill>
                  <a:schemeClr val="accent1"/>
                </a:solidFill>
              </a:rPr>
              <a:t>严格遵循了文本指令</a:t>
            </a:r>
            <a:r>
              <a:rPr lang="zh-CN" altLang="en-US" sz="2000" dirty="0"/>
              <a:t>。</a:t>
            </a:r>
          </a:p>
          <a:p>
            <a:pPr lvl="1"/>
            <a:r>
              <a:rPr lang="zh-CN" altLang="en-US" sz="2000" dirty="0"/>
              <a:t>应用场景：涵盖文生图 </a:t>
            </a:r>
            <a:r>
              <a:rPr lang="en-US" altLang="zh-CN" sz="2000" dirty="0"/>
              <a:t>(T2I)</a:t>
            </a:r>
            <a:r>
              <a:rPr lang="zh-CN" altLang="en-US" sz="2000" dirty="0"/>
              <a:t>、指令编辑 </a:t>
            </a:r>
            <a:r>
              <a:rPr lang="en-US" altLang="zh-CN" sz="2000" dirty="0"/>
              <a:t>(Edit)</a:t>
            </a:r>
            <a:r>
              <a:rPr lang="zh-CN" altLang="en-US" sz="2000" dirty="0"/>
              <a:t>、控制生成 </a:t>
            </a:r>
            <a:r>
              <a:rPr lang="en-US" altLang="zh-CN" sz="2000" dirty="0"/>
              <a:t>(Control) </a:t>
            </a:r>
            <a:r>
              <a:rPr lang="zh-CN" altLang="en-US" sz="2000" dirty="0"/>
              <a:t>等多种任务。</a:t>
            </a:r>
            <a:endParaRPr lang="en-US" altLang="zh-CN" sz="2000" b="1" dirty="0"/>
          </a:p>
          <a:p>
            <a:r>
              <a:rPr lang="zh-CN" altLang="en-US" sz="2400" b="1" dirty="0"/>
              <a:t>感知质量 </a:t>
            </a:r>
            <a:r>
              <a:rPr lang="en-US" altLang="zh-CN" sz="2400" dirty="0"/>
              <a:t>(Perceptual Quality, PQ)</a:t>
            </a:r>
            <a:r>
              <a:rPr lang="zh-CN" altLang="en-US" sz="2400" dirty="0"/>
              <a:t>：</a:t>
            </a:r>
          </a:p>
          <a:p>
            <a:pPr lvl="1"/>
            <a:r>
              <a:rPr lang="zh-CN" altLang="en-US" sz="2000" dirty="0"/>
              <a:t>关注点：图像的</a:t>
            </a:r>
            <a:r>
              <a:rPr lang="zh-CN" altLang="en-US" sz="2000" dirty="0">
                <a:solidFill>
                  <a:schemeClr val="accent1"/>
                </a:solidFill>
              </a:rPr>
              <a:t>逼真度、清晰度</a:t>
            </a:r>
            <a:r>
              <a:rPr lang="zh-CN" altLang="en-US" sz="2000" dirty="0"/>
              <a:t>、是否存在伪影</a:t>
            </a:r>
            <a:r>
              <a:rPr lang="en-US" altLang="zh-CN" sz="2000" dirty="0"/>
              <a:t>/</a:t>
            </a:r>
            <a:r>
              <a:rPr lang="zh-CN" altLang="en-US" sz="2000" dirty="0"/>
              <a:t>畸变。</a:t>
            </a:r>
          </a:p>
          <a:p>
            <a:pPr lvl="1"/>
            <a:r>
              <a:rPr lang="zh-CN" altLang="en-US" sz="2000" dirty="0"/>
              <a:t>角色设定：</a:t>
            </a:r>
            <a:r>
              <a:rPr lang="en-US" altLang="zh-CN" sz="2000" dirty="0"/>
              <a:t>MLLM </a:t>
            </a:r>
            <a:r>
              <a:rPr lang="zh-CN" altLang="en-US" sz="2000" dirty="0"/>
              <a:t>被设定为“专业数字艺术家”进行审美评判。</a:t>
            </a:r>
            <a:endParaRPr lang="zh-CN" altLang="en-US" dirty="0"/>
          </a:p>
          <a:p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5C0F5C-A43E-5D0B-2E05-246DE789E5BA}"/>
              </a:ext>
            </a:extLst>
          </p:cNvPr>
          <p:cNvSpPr txBox="1"/>
          <p:nvPr/>
        </p:nvSpPr>
        <p:spPr>
          <a:xfrm>
            <a:off x="524603" y="1214149"/>
            <a:ext cx="11142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VIEScore</a:t>
            </a:r>
            <a:r>
              <a:rPr lang="en-US" altLang="zh-CN" sz="2400" dirty="0"/>
              <a:t> </a:t>
            </a:r>
            <a:r>
              <a:rPr lang="zh-CN" altLang="en-US" sz="2400" dirty="0"/>
              <a:t>是一种利用 </a:t>
            </a:r>
            <a:r>
              <a:rPr lang="zh-CN" altLang="en-US" sz="2400" b="1" dirty="0"/>
              <a:t>多模态大语言模型 </a:t>
            </a:r>
            <a:r>
              <a:rPr lang="en-US" altLang="zh-CN" sz="2400" b="1" dirty="0"/>
              <a:t>(MLLM) </a:t>
            </a:r>
            <a:r>
              <a:rPr lang="zh-CN" altLang="en-US" sz="2400" dirty="0"/>
              <a:t>作为“超级裁判”的评估指标。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9A4F746-2D84-201D-B7B5-5AB74B012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92" b="24565"/>
          <a:stretch>
            <a:fillRect/>
          </a:stretch>
        </p:blipFill>
        <p:spPr>
          <a:xfrm>
            <a:off x="6711394" y="2577631"/>
            <a:ext cx="5132014" cy="33003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004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D2EE2-0CCA-3324-E2CE-E1443758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EAE87AA-2AB5-127F-A6F2-E0A54C721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模型选择：</a:t>
            </a:r>
            <a:r>
              <a:rPr lang="en-US" altLang="zh-CN" dirty="0"/>
              <a:t>Nano Banana</a:t>
            </a:r>
            <a:endParaRPr lang="zh-CN" altLang="en-US" dirty="0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9B5C9BE0-0830-E16D-ED00-E9B7F2164B2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3396" y="1207443"/>
            <a:ext cx="10586492" cy="2050822"/>
          </a:xfrm>
        </p:spPr>
        <p:txBody>
          <a:bodyPr>
            <a:normAutofit lnSpcReduction="10000"/>
          </a:bodyPr>
          <a:lstStyle/>
          <a:p>
            <a:r>
              <a:rPr lang="en-US" altLang="zh-CN" sz="2000" b="1" dirty="0"/>
              <a:t>Nano Banana Pro </a:t>
            </a:r>
            <a:r>
              <a:rPr lang="zh-CN" altLang="en-US" sz="2000" b="1" dirty="0"/>
              <a:t>是 </a:t>
            </a:r>
            <a:r>
              <a:rPr lang="en-US" altLang="zh-CN" sz="2000" b="1" dirty="0"/>
              <a:t>Google DeepMind </a:t>
            </a:r>
            <a:r>
              <a:rPr lang="zh-CN" altLang="en-US" sz="2000" b="1" dirty="0"/>
              <a:t>基于 </a:t>
            </a:r>
            <a:r>
              <a:rPr lang="en-US" altLang="zh-CN" sz="2000" b="1" dirty="0"/>
              <a:t>Gemini 3 Pro </a:t>
            </a:r>
            <a:r>
              <a:rPr lang="zh-CN" altLang="en-US" sz="2000" b="1" dirty="0"/>
              <a:t>模型推出的新一代 </a:t>
            </a:r>
            <a:r>
              <a:rPr lang="en-US" altLang="zh-CN" sz="2000" b="1" dirty="0"/>
              <a:t>AI </a:t>
            </a:r>
            <a:r>
              <a:rPr lang="zh-CN" altLang="en-US" sz="2000" b="1" dirty="0"/>
              <a:t>图像生成与编辑模型。</a:t>
            </a:r>
            <a:endParaRPr lang="en-US" altLang="zh-CN" sz="2000" b="1" dirty="0"/>
          </a:p>
          <a:p>
            <a:r>
              <a:rPr lang="zh-CN" altLang="en-US" sz="2000" dirty="0"/>
              <a:t>它超越了传统生图工具，能理解</a:t>
            </a:r>
            <a:r>
              <a:rPr lang="zh-CN" altLang="en-US" sz="2000" dirty="0">
                <a:solidFill>
                  <a:srgbClr val="FF0000"/>
                </a:solidFill>
              </a:rPr>
              <a:t>复杂信息</a:t>
            </a:r>
            <a:r>
              <a:rPr lang="zh-CN" altLang="en-US" sz="2000" dirty="0"/>
              <a:t>（文字、数据、草图），并生成 </a:t>
            </a:r>
            <a:r>
              <a:rPr lang="en-US" altLang="zh-CN" sz="2000" dirty="0"/>
              <a:t>4K </a:t>
            </a:r>
            <a:r>
              <a:rPr lang="zh-CN" altLang="en-US" sz="2000" dirty="0">
                <a:solidFill>
                  <a:srgbClr val="FF0000"/>
                </a:solidFill>
              </a:rPr>
              <a:t>高分辨率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FF0000"/>
                </a:solidFill>
              </a:rPr>
              <a:t>高一致性</a:t>
            </a:r>
            <a:r>
              <a:rPr lang="zh-CN" altLang="en-US" sz="2000" dirty="0"/>
              <a:t>（角色、品牌风格）的专业级视觉内容，支持</a:t>
            </a:r>
            <a:r>
              <a:rPr lang="zh-CN" altLang="en-US" sz="2000" dirty="0">
                <a:solidFill>
                  <a:srgbClr val="FF0000"/>
                </a:solidFill>
              </a:rPr>
              <a:t>多语言文字渲染和实时信息</a:t>
            </a:r>
            <a:r>
              <a:rPr lang="zh-CN" altLang="en-US" sz="2000" dirty="0"/>
              <a:t>（天气、比分）整合。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66D81B2-0940-4C2C-9061-5A06A2981B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371" y="3678555"/>
            <a:ext cx="4915711" cy="2681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0D79F7D-C29A-4092-A3F5-9062CD03AE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96" y="3678556"/>
            <a:ext cx="4915711" cy="2681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189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指标到方法：反馈驱动的提示词优化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48E19E-E1D7-4FBC-B759-229B2C49C08A}"/>
              </a:ext>
            </a:extLst>
          </p:cNvPr>
          <p:cNvSpPr txBox="1"/>
          <p:nvPr/>
        </p:nvSpPr>
        <p:spPr>
          <a:xfrm>
            <a:off x="4253737" y="949062"/>
            <a:ext cx="3553237" cy="853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spcAft>
                <a:spcPts val="600"/>
              </a:spcAft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1. </a:t>
            </a: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生成（</a:t>
            </a: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Generate</a:t>
            </a: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）</a:t>
            </a:r>
            <a:endParaRPr lang="en-US" altLang="zh-CN" sz="2000" b="1" dirty="0">
              <a:solidFill>
                <a:schemeClr val="tx2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使用原始提示词生成初步图像。</a:t>
            </a:r>
            <a:endParaRPr lang="en-US" altLang="zh-CN" sz="2000" dirty="0">
              <a:latin typeface="+mj-ea"/>
              <a:ea typeface="+mj-ea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850478C9-0C22-43A2-96CE-934F1B2A61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5679050"/>
              </p:ext>
            </p:extLst>
          </p:nvPr>
        </p:nvGraphicFramePr>
        <p:xfrm>
          <a:off x="3309734" y="1913660"/>
          <a:ext cx="5340952" cy="3560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EC1295AD-4877-4530-9A14-AF54856B6D94}"/>
              </a:ext>
            </a:extLst>
          </p:cNvPr>
          <p:cNvSpPr txBox="1"/>
          <p:nvPr/>
        </p:nvSpPr>
        <p:spPr>
          <a:xfrm>
            <a:off x="8092474" y="3043339"/>
            <a:ext cx="3155497" cy="125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spcAft>
                <a:spcPts val="600"/>
              </a:spcAft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2. </a:t>
            </a: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评估（</a:t>
            </a: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Evaluate</a:t>
            </a: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）</a:t>
            </a:r>
            <a:endParaRPr lang="en-US" altLang="zh-CN" sz="2000" b="1" dirty="0">
              <a:solidFill>
                <a:schemeClr val="tx2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使用</a:t>
            </a:r>
            <a:r>
              <a:rPr lang="en-US" altLang="zh-CN" sz="2000" dirty="0" err="1">
                <a:latin typeface="+mj-ea"/>
                <a:ea typeface="+mj-ea"/>
              </a:rPr>
              <a:t>VIEScore</a:t>
            </a:r>
            <a:r>
              <a:rPr lang="zh-CN" altLang="en-US" sz="2000" dirty="0">
                <a:latin typeface="+mj-ea"/>
                <a:ea typeface="+mj-ea"/>
              </a:rPr>
              <a:t>进行评分，定位低分样本。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FF13D2-C048-4B96-93D9-458B970FF1DD}"/>
              </a:ext>
            </a:extLst>
          </p:cNvPr>
          <p:cNvSpPr txBox="1"/>
          <p:nvPr/>
        </p:nvSpPr>
        <p:spPr>
          <a:xfrm>
            <a:off x="4452606" y="5474295"/>
            <a:ext cx="3155497" cy="125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spcAft>
                <a:spcPts val="600"/>
              </a:spcAft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3. </a:t>
            </a: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分析（</a:t>
            </a: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Analyze</a:t>
            </a: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）</a:t>
            </a:r>
            <a:endParaRPr lang="en-US" altLang="zh-CN" sz="2000" b="1" dirty="0">
              <a:solidFill>
                <a:schemeClr val="tx2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总结共性缺陷（细节缺失、元素冗余、画风不符）。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D51955E-4317-4810-91AE-C129D37FB408}"/>
              </a:ext>
            </a:extLst>
          </p:cNvPr>
          <p:cNvSpPr txBox="1"/>
          <p:nvPr/>
        </p:nvSpPr>
        <p:spPr>
          <a:xfrm>
            <a:off x="894750" y="3043339"/>
            <a:ext cx="2919211" cy="125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spcAft>
                <a:spcPts val="600"/>
              </a:spcAft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4. </a:t>
            </a: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优化（</a:t>
            </a: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Refine</a:t>
            </a: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）</a:t>
            </a:r>
            <a:endParaRPr lang="en-US" altLang="zh-CN" sz="2000" b="1" dirty="0">
              <a:solidFill>
                <a:schemeClr val="tx2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设计并不断迭代通用的“提示词增强指令”。</a:t>
            </a:r>
            <a:endParaRPr lang="en-US" altLang="zh-CN" sz="2000" dirty="0">
              <a:latin typeface="+mj-ea"/>
              <a:ea typeface="+mj-ea"/>
            </a:endParaRPr>
          </a:p>
        </p:txBody>
      </p:sp>
      <p:pic>
        <p:nvPicPr>
          <p:cNvPr id="26" name="图形 25" descr="箭头循环 纯色填充">
            <a:extLst>
              <a:ext uri="{FF2B5EF4-FFF2-40B4-BE49-F238E27FC236}">
                <a16:creationId xmlns:a16="http://schemas.microsoft.com/office/drawing/2014/main" id="{54DEAFA5-9DB2-4D4C-AC25-823136DA57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4225" y="2624368"/>
            <a:ext cx="2139219" cy="213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9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提示词优化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73F533-DD01-4681-A6C4-C250AA86579F}"/>
              </a:ext>
            </a:extLst>
          </p:cNvPr>
          <p:cNvSpPr txBox="1"/>
          <p:nvPr/>
        </p:nvSpPr>
        <p:spPr>
          <a:xfrm>
            <a:off x="524801" y="1137130"/>
            <a:ext cx="3553237" cy="4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spcAft>
                <a:spcPts val="600"/>
              </a:spcAft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中文指令（</a:t>
            </a: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Chinese Suffix</a:t>
            </a: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）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CA58B7F-AAAB-46D3-89F0-207496746A12}"/>
              </a:ext>
            </a:extLst>
          </p:cNvPr>
          <p:cNvSpPr/>
          <p:nvPr/>
        </p:nvSpPr>
        <p:spPr>
          <a:xfrm>
            <a:off x="629054" y="1733082"/>
            <a:ext cx="10557754" cy="10187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A56EF1-AE51-46C2-93FB-898B34E53BB3}"/>
              </a:ext>
            </a:extLst>
          </p:cNvPr>
          <p:cNvSpPr txBox="1"/>
          <p:nvPr/>
        </p:nvSpPr>
        <p:spPr>
          <a:xfrm>
            <a:off x="901430" y="1746965"/>
            <a:ext cx="10123251" cy="87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若未指定风格则默认为写实风格，否则遵循提示词风格设定；严格按照提示词所述画面还原细节，避免无关冗余元素；确保画面自然仿真、细节准确完整。</a:t>
            </a:r>
            <a:r>
              <a:rPr lang="en-US" altLang="zh-CN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F721668-AEF7-4200-99F6-6A54A02EE35F}"/>
              </a:ext>
            </a:extLst>
          </p:cNvPr>
          <p:cNvSpPr txBox="1"/>
          <p:nvPr/>
        </p:nvSpPr>
        <p:spPr>
          <a:xfrm>
            <a:off x="524801" y="2894299"/>
            <a:ext cx="3553237" cy="4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spcAft>
                <a:spcPts val="600"/>
              </a:spcAft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英文指令（</a:t>
            </a: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English Suffix</a:t>
            </a:r>
            <a:r>
              <a:rPr lang="zh-CN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）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9902A97-1111-4641-8C16-C9112F01CB1B}"/>
              </a:ext>
            </a:extLst>
          </p:cNvPr>
          <p:cNvSpPr/>
          <p:nvPr/>
        </p:nvSpPr>
        <p:spPr>
          <a:xfrm>
            <a:off x="629054" y="3490251"/>
            <a:ext cx="10557754" cy="12142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012FCE6-8322-45A4-8DF3-2636E800E878}"/>
              </a:ext>
            </a:extLst>
          </p:cNvPr>
          <p:cNvSpPr txBox="1"/>
          <p:nvPr/>
        </p:nvSpPr>
        <p:spPr>
          <a:xfrm>
            <a:off x="901430" y="3504134"/>
            <a:ext cx="101232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Default to photorealistic style unless a style is specified, otherwise follow the prompt's style settings; strictly render the details described in the prompt, avoiding irrelevant or redundant elements; ensure the image is natural and lifelike, with accurate and complete details.</a:t>
            </a:r>
            <a:r>
              <a:rPr lang="en-US" altLang="zh-CN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0D09CF-841A-40FC-9029-B1CF60748E33}"/>
              </a:ext>
            </a:extLst>
          </p:cNvPr>
          <p:cNvSpPr txBox="1"/>
          <p:nvPr/>
        </p:nvSpPr>
        <p:spPr>
          <a:xfrm>
            <a:off x="408315" y="5016126"/>
            <a:ext cx="11109480" cy="125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spcAft>
                <a:spcPts val="600"/>
              </a:spcAft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2E76BC"/>
                </a:solidFill>
                <a:latin typeface="+mj-ea"/>
                <a:ea typeface="+mj-ea"/>
              </a:rPr>
              <a:t>设计理念：</a:t>
            </a:r>
            <a:endParaRPr lang="en-US" altLang="zh-CN" sz="2000" b="1" dirty="0">
              <a:solidFill>
                <a:srgbClr val="2E76BC"/>
              </a:solidFill>
              <a:latin typeface="+mj-ea"/>
              <a:ea typeface="+mj-ea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2000" dirty="0">
                <a:solidFill>
                  <a:schemeClr val="tx1"/>
                </a:solidFill>
                <a:latin typeface="+mj-ea"/>
                <a:ea typeface="+mj-ea"/>
              </a:rPr>
              <a:t>该指令作为原提示词的后缀进行拼接，直接针对</a:t>
            </a:r>
            <a:r>
              <a:rPr lang="en-US" altLang="zh-CN" sz="2000" dirty="0" err="1">
                <a:solidFill>
                  <a:schemeClr val="tx1"/>
                </a:solidFill>
                <a:latin typeface="+mj-ea"/>
                <a:ea typeface="+mj-ea"/>
              </a:rPr>
              <a:t>VIEScore</a:t>
            </a:r>
            <a:r>
              <a:rPr lang="zh-CN" altLang="en-US" sz="2000" dirty="0">
                <a:solidFill>
                  <a:schemeClr val="tx1"/>
                </a:solidFill>
                <a:latin typeface="+mj-ea"/>
                <a:ea typeface="+mj-ea"/>
              </a:rPr>
              <a:t>中的</a:t>
            </a:r>
            <a:r>
              <a:rPr lang="zh-CN" alt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内容一致性（</a:t>
            </a:r>
            <a:r>
              <a:rPr lang="en-US" altLang="zh-CN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SC</a:t>
            </a:r>
            <a:r>
              <a:rPr lang="zh-CN" alt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）</a:t>
            </a:r>
            <a:r>
              <a:rPr lang="zh-CN" altLang="en-US" sz="2000" dirty="0">
                <a:solidFill>
                  <a:schemeClr val="tx1"/>
                </a:solidFill>
                <a:latin typeface="+mj-ea"/>
                <a:ea typeface="+mj-ea"/>
              </a:rPr>
              <a:t>和</a:t>
            </a:r>
            <a:r>
              <a:rPr lang="zh-CN" alt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感知质量（</a:t>
            </a:r>
            <a:r>
              <a:rPr lang="en-US" altLang="zh-CN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PQ</a:t>
            </a:r>
            <a:r>
              <a:rPr lang="zh-CN" alt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）</a:t>
            </a:r>
            <a:r>
              <a:rPr lang="zh-CN" altLang="en-US" sz="2000" dirty="0">
                <a:solidFill>
                  <a:schemeClr val="tx1"/>
                </a:solidFill>
                <a:latin typeface="+mj-ea"/>
                <a:ea typeface="+mj-ea"/>
              </a:rPr>
              <a:t>进行优化，用</a:t>
            </a:r>
            <a:r>
              <a:rPr lang="zh-CN" altLang="en-US" sz="2000" dirty="0">
                <a:solidFill>
                  <a:srgbClr val="FF0000"/>
                </a:solidFill>
                <a:latin typeface="+mj-ea"/>
                <a:ea typeface="+mj-ea"/>
              </a:rPr>
              <a:t>通用且低开销的方式</a:t>
            </a:r>
            <a:r>
              <a:rPr lang="zh-CN" altLang="en-US" sz="2000" dirty="0">
                <a:solidFill>
                  <a:schemeClr val="tx1"/>
                </a:solidFill>
                <a:latin typeface="+mj-ea"/>
                <a:ea typeface="+mj-ea"/>
              </a:rPr>
              <a:t>从根本上提高了</a:t>
            </a:r>
            <a:r>
              <a:rPr lang="zh-CN" altLang="en-US" sz="2000" dirty="0">
                <a:solidFill>
                  <a:srgbClr val="FF0000"/>
                </a:solidFill>
                <a:latin typeface="+mj-ea"/>
                <a:ea typeface="+mj-ea"/>
              </a:rPr>
              <a:t>生成下限和平均质量</a:t>
            </a:r>
            <a:r>
              <a:rPr lang="zh-CN" altLang="en-US" sz="2000" dirty="0">
                <a:solidFill>
                  <a:schemeClr val="tx1"/>
                </a:solidFill>
                <a:latin typeface="+mj-ea"/>
                <a:ea typeface="+mj-ea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21072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优化效果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93426F-901A-488D-BD2E-0FBD2FCC19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05" y="1559597"/>
            <a:ext cx="1963366" cy="19633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0A84CAE-A2BB-4FA0-A2FE-09311B1406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506" y="1559597"/>
            <a:ext cx="1963366" cy="196336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B944078-9250-4CA8-A474-58E798D6401B}"/>
              </a:ext>
            </a:extLst>
          </p:cNvPr>
          <p:cNvSpPr txBox="1"/>
          <p:nvPr/>
        </p:nvSpPr>
        <p:spPr>
          <a:xfrm>
            <a:off x="512323" y="1069728"/>
            <a:ext cx="855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Task 17</a:t>
            </a:r>
            <a:r>
              <a:rPr lang="zh-CN" altLang="en-US" dirty="0"/>
              <a:t>：在宁静的环境中，著名艺术家们描绘了一片在晴朗天空下的平静海洋。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DA46A0-861D-455B-BBAD-CA6A9AA96CD8}"/>
              </a:ext>
            </a:extLst>
          </p:cNvPr>
          <p:cNvSpPr txBox="1"/>
          <p:nvPr/>
        </p:nvSpPr>
        <p:spPr>
          <a:xfrm>
            <a:off x="3055473" y="2171948"/>
            <a:ext cx="3740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2D5AC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严格遵循指令，添加艺术家元素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047A84F-E762-442C-B6F2-06FF824AF06F}"/>
              </a:ext>
            </a:extLst>
          </p:cNvPr>
          <p:cNvCxnSpPr/>
          <p:nvPr/>
        </p:nvCxnSpPr>
        <p:spPr>
          <a:xfrm>
            <a:off x="2730229" y="2639438"/>
            <a:ext cx="45071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19ECF06-111B-446D-89A6-1377B8A3276D}"/>
              </a:ext>
            </a:extLst>
          </p:cNvPr>
          <p:cNvSpPr txBox="1"/>
          <p:nvPr/>
        </p:nvSpPr>
        <p:spPr>
          <a:xfrm>
            <a:off x="512323" y="3826851"/>
            <a:ext cx="11061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Task 20</a:t>
            </a:r>
            <a:r>
              <a:rPr lang="zh-CN" altLang="en-US" dirty="0"/>
              <a:t>：这是一幅</a:t>
            </a:r>
            <a:r>
              <a:rPr lang="en-US" altLang="zh-CN" dirty="0"/>
              <a:t>1950</a:t>
            </a:r>
            <a:r>
              <a:rPr lang="zh-CN" altLang="en-US" dirty="0"/>
              <a:t>年代游戏节目的超写实主义画作，画面中一位女性在一个反光的环境中打高尔夫球。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2C7E0E-ACC4-4CFF-ACCD-AB7F515BD273}"/>
              </a:ext>
            </a:extLst>
          </p:cNvPr>
          <p:cNvSpPr txBox="1"/>
          <p:nvPr/>
        </p:nvSpPr>
        <p:spPr>
          <a:xfrm>
            <a:off x="3055473" y="4929071"/>
            <a:ext cx="3740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2D5AC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默认写实画风，确保画面美观真实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01CCC96-10EE-499B-B93D-D6EED031BA41}"/>
              </a:ext>
            </a:extLst>
          </p:cNvPr>
          <p:cNvCxnSpPr/>
          <p:nvPr/>
        </p:nvCxnSpPr>
        <p:spPr>
          <a:xfrm>
            <a:off x="2730229" y="5396561"/>
            <a:ext cx="45071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424A4F40-3667-4527-A8FB-C39310267A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05" y="4316720"/>
            <a:ext cx="1963366" cy="196336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DF15B5E-8276-45A7-9C77-3014D75F30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536" y="4316720"/>
            <a:ext cx="3601068" cy="196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14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工程实现：鲁棒生成流程</a:t>
            </a:r>
          </a:p>
        </p:txBody>
      </p:sp>
      <p:sp>
        <p:nvSpPr>
          <p:cNvPr id="17" name="内容占位符 16"/>
          <p:cNvSpPr>
            <a:spLocks noGrp="1"/>
          </p:cNvSpPr>
          <p:nvPr>
            <p:ph sz="quarter" idx="11"/>
          </p:nvPr>
        </p:nvSpPr>
        <p:spPr>
          <a:xfrm>
            <a:off x="613569" y="1256352"/>
            <a:ext cx="10964862" cy="4656137"/>
          </a:xfrm>
        </p:spPr>
        <p:txBody>
          <a:bodyPr>
            <a:normAutofit/>
          </a:bodyPr>
          <a:lstStyle/>
          <a:p>
            <a:r>
              <a:rPr lang="en-US" altLang="zh-CN" sz="2400" dirty="0" err="1"/>
              <a:t>ImageGen</a:t>
            </a:r>
            <a:r>
              <a:rPr lang="zh-CN" altLang="en-US" sz="2400" dirty="0"/>
              <a:t>类调用</a:t>
            </a:r>
            <a:r>
              <a:rPr lang="en-US" altLang="zh-CN" sz="2400" dirty="0"/>
              <a:t>nano banana</a:t>
            </a:r>
            <a:r>
              <a:rPr lang="zh-CN" altLang="en-US" sz="2400" dirty="0"/>
              <a:t>模型</a:t>
            </a:r>
            <a:r>
              <a:rPr lang="en-US" altLang="zh-CN" sz="2400" dirty="0" err="1"/>
              <a:t>api</a:t>
            </a:r>
            <a:r>
              <a:rPr lang="en-US" altLang="zh-CN" sz="2400" dirty="0"/>
              <a:t> </a:t>
            </a:r>
            <a:r>
              <a:rPr lang="zh-CN" altLang="en-US" sz="2400" dirty="0"/>
              <a:t>生成图片</a:t>
            </a:r>
            <a:endParaRPr lang="en-US" altLang="zh-CN" sz="2400" dirty="0"/>
          </a:p>
          <a:p>
            <a:r>
              <a:rPr lang="zh-CN" altLang="en-US" sz="2400" dirty="0"/>
              <a:t>调用预处理函数，自动化实现提示词增强</a:t>
            </a:r>
            <a:endParaRPr lang="en-US" altLang="zh-CN" sz="2400" dirty="0"/>
          </a:p>
          <a:p>
            <a:r>
              <a:rPr lang="zh-CN" altLang="en-US" sz="2400" dirty="0"/>
              <a:t>定义任务提交函数，生成失败重新提交，应对偶发性失败（审核策略等）</a:t>
            </a:r>
            <a:endParaRPr lang="en-US" altLang="zh-CN" sz="2400" dirty="0"/>
          </a:p>
          <a:p>
            <a:r>
              <a:rPr lang="zh-CN" altLang="en-US" sz="2400" dirty="0"/>
              <a:t>从</a:t>
            </a:r>
            <a:r>
              <a:rPr lang="en-US" altLang="zh-CN" sz="2400" dirty="0" err="1"/>
              <a:t>url</a:t>
            </a:r>
            <a:r>
              <a:rPr lang="zh-CN" altLang="en-US" sz="2400" dirty="0"/>
              <a:t>下载图片得到生成结果，评估 </a:t>
            </a:r>
            <a:r>
              <a:rPr lang="en-US" altLang="zh-CN" sz="2400" dirty="0"/>
              <a:t>VIE </a:t>
            </a:r>
            <a:r>
              <a:rPr lang="zh-CN" altLang="en-US" sz="2400" dirty="0"/>
              <a:t>分数，方便迭代优化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E8606B-CB3C-B35E-50AD-E881AF96C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69" y="4075001"/>
            <a:ext cx="3927315" cy="21152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D5EE7AB-5386-983D-2D36-02CB8FE93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901" y="4079030"/>
            <a:ext cx="3667981" cy="211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13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1"/>
          <p:cNvSpPr txBox="1">
            <a:spLocks/>
          </p:cNvSpPr>
          <p:nvPr/>
        </p:nvSpPr>
        <p:spPr>
          <a:xfrm>
            <a:off x="5943600" y="1908279"/>
            <a:ext cx="5467350" cy="1638300"/>
          </a:xfrm>
          <a:prstGeom prst="rect">
            <a:avLst/>
          </a:prstGeom>
        </p:spPr>
        <p:txBody>
          <a:bodyPr vert="horz" lIns="144000" tIns="144000" rIns="144000" bIns="14400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Deepfake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426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5E7E-93A4-2630-39E5-5DAC6D9B2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4A8C479-D1D6-D385-6ABD-1D472FF9AC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基于指标的工具择优策略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3AE8D63-91B2-4994-9D05-276E5454C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" y="1167496"/>
            <a:ext cx="12192000" cy="26557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01C8C578-B66F-48C6-A773-F90DEC6D0D5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3621" y="4248082"/>
            <a:ext cx="11404757" cy="165985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面临的问题</a:t>
            </a:r>
            <a:r>
              <a:rPr lang="zh-CN" altLang="en-US" sz="2000" dirty="0"/>
              <a:t>：存在多种开源解决方案（</a:t>
            </a:r>
            <a:r>
              <a:rPr lang="en-US" altLang="zh-CN" sz="2000" dirty="0"/>
              <a:t>Rope</a:t>
            </a:r>
            <a:r>
              <a:rPr lang="zh-CN" altLang="en-US" sz="2000" dirty="0"/>
              <a:t>、</a:t>
            </a:r>
            <a:r>
              <a:rPr lang="en-US" altLang="zh-CN" sz="2000" dirty="0"/>
              <a:t>Roop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Facefusion</a:t>
            </a:r>
            <a:r>
              <a:rPr lang="zh-CN" altLang="en-US" sz="2000" dirty="0"/>
              <a:t>等），如何选择最优工具？</a:t>
            </a:r>
            <a:endParaRPr lang="en-US" altLang="zh-CN" sz="2000" dirty="0"/>
          </a:p>
          <a:p>
            <a:r>
              <a:rPr lang="zh-CN" altLang="en-US" sz="2000" b="1" dirty="0"/>
              <a:t>我们的方法</a:t>
            </a:r>
            <a:r>
              <a:rPr lang="zh-CN" altLang="en-US" sz="2000" dirty="0"/>
              <a:t>：并非依赖主观判断，而是对主流方案在样本集上进行严格的基准测试。</a:t>
            </a:r>
            <a:endParaRPr lang="en-US" altLang="zh-CN" sz="2000" dirty="0"/>
          </a:p>
          <a:p>
            <a:r>
              <a:rPr lang="zh-CN" altLang="en-US" sz="2000" b="1" dirty="0"/>
              <a:t>评判标准</a:t>
            </a:r>
            <a:r>
              <a:rPr lang="zh-CN" altLang="en-US" sz="2000" dirty="0"/>
              <a:t>：根据该工具在测试集上的平均‘</a:t>
            </a:r>
            <a:r>
              <a:rPr lang="en-US" altLang="zh-CN" sz="2000" dirty="0" err="1"/>
              <a:t>VIEScore</a:t>
            </a:r>
            <a:r>
              <a:rPr lang="zh-CN" altLang="en-US" sz="2000" dirty="0"/>
              <a:t>’进行对比择优。</a:t>
            </a:r>
          </a:p>
        </p:txBody>
      </p:sp>
    </p:spTree>
    <p:extLst>
      <p:ext uri="{BB962C8B-B14F-4D97-AF65-F5344CB8AC3E}">
        <p14:creationId xmlns:p14="http://schemas.microsoft.com/office/powerpoint/2010/main" val="1869595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40583B2-7420-5804-E72E-E65E2BFA0F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Roop </a:t>
            </a:r>
            <a:r>
              <a:rPr lang="zh-CN" altLang="en-US" dirty="0"/>
              <a:t>项目的核心原理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B3D355-C1AC-6D60-75A1-1304546D2A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8384" y="1245476"/>
            <a:ext cx="6743754" cy="5176345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单样本学习</a:t>
            </a:r>
            <a:r>
              <a:rPr lang="zh-CN" altLang="en-US" sz="2400" dirty="0"/>
              <a:t>：无需数据集训练，仅需一张人脸图片即可完成替换。</a:t>
            </a:r>
            <a:endParaRPr lang="en-US" altLang="zh-CN" sz="2400" dirty="0"/>
          </a:p>
          <a:p>
            <a:r>
              <a:rPr lang="zh-CN" altLang="en-US" sz="2400" b="1" dirty="0"/>
              <a:t>核心架构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1"/>
            <a:r>
              <a:rPr lang="en-US" altLang="zh-CN" sz="2000" b="1" dirty="0"/>
              <a:t>Face Analysis</a:t>
            </a:r>
            <a:r>
              <a:rPr lang="zh-CN" altLang="en-US" sz="2000" dirty="0"/>
              <a:t>：使用 </a:t>
            </a:r>
            <a:r>
              <a:rPr lang="en-US" altLang="zh-CN" sz="2000" i="1" dirty="0" err="1"/>
              <a:t>InsightFace</a:t>
            </a:r>
            <a:r>
              <a:rPr lang="en-US" altLang="zh-CN" sz="2000" dirty="0"/>
              <a:t> </a:t>
            </a:r>
            <a:r>
              <a:rPr lang="zh-CN" altLang="en-US" sz="2000" dirty="0"/>
              <a:t>进行人脸检测与特征提取。</a:t>
            </a:r>
          </a:p>
          <a:p>
            <a:pPr lvl="1"/>
            <a:r>
              <a:rPr lang="en-US" altLang="zh-CN" sz="2000" b="1" dirty="0"/>
              <a:t>Face Swapping</a:t>
            </a:r>
            <a:r>
              <a:rPr lang="zh-CN" altLang="en-US" sz="2000" dirty="0"/>
              <a:t>：基于 </a:t>
            </a:r>
            <a:r>
              <a:rPr lang="en-US" altLang="zh-CN" sz="2000" i="1" dirty="0"/>
              <a:t>inswapper_128.onnx </a:t>
            </a:r>
            <a:r>
              <a:rPr lang="zh-CN" altLang="en-US" sz="2000" dirty="0"/>
              <a:t>模型进行特征融合与人脸生成。</a:t>
            </a:r>
            <a:endParaRPr lang="en-US" altLang="zh-CN" sz="2000" dirty="0"/>
          </a:p>
          <a:p>
            <a:r>
              <a:rPr lang="zh-CN" altLang="en-US" sz="2400" b="1" dirty="0"/>
              <a:t>优势</a:t>
            </a:r>
            <a:r>
              <a:rPr lang="zh-CN" altLang="en-US" sz="2400" dirty="0"/>
              <a:t>：相比传统 </a:t>
            </a:r>
            <a:r>
              <a:rPr lang="en-US" altLang="zh-CN" sz="2400" dirty="0"/>
              <a:t>Deepfake (</a:t>
            </a:r>
            <a:r>
              <a:rPr lang="zh-CN" altLang="en-US" sz="2400" dirty="0"/>
              <a:t>如 </a:t>
            </a:r>
            <a:r>
              <a:rPr lang="en-US" altLang="zh-CN" sz="2400" dirty="0" err="1"/>
              <a:t>DeepFaceLab</a:t>
            </a:r>
            <a:r>
              <a:rPr lang="en-US" altLang="zh-CN" sz="2400" dirty="0"/>
              <a:t>) </a:t>
            </a:r>
            <a:r>
              <a:rPr lang="zh-CN" altLang="en-US" sz="2400" dirty="0"/>
              <a:t>需要数小时训练，</a:t>
            </a:r>
            <a:r>
              <a:rPr lang="en-US" altLang="zh-CN" sz="2400" dirty="0"/>
              <a:t>Roop </a:t>
            </a:r>
            <a:r>
              <a:rPr lang="zh-CN" altLang="en-US" sz="2400" dirty="0"/>
              <a:t>可实时</a:t>
            </a:r>
            <a:r>
              <a:rPr lang="en-US" altLang="zh-CN" sz="2400" dirty="0"/>
              <a:t>/</a:t>
            </a:r>
            <a:r>
              <a:rPr lang="zh-CN" altLang="en-US" sz="2400" dirty="0"/>
              <a:t>快速生成，计算成本低。</a:t>
            </a:r>
            <a:endParaRPr lang="en-US" altLang="zh-CN" sz="2400" dirty="0"/>
          </a:p>
          <a:p>
            <a:endParaRPr lang="zh-CN" altLang="en-US" sz="2400" dirty="0"/>
          </a:p>
          <a:p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B4B144-D916-FFD1-2FBD-F8A038725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00" y="1245476"/>
            <a:ext cx="3686498" cy="49346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E8FDAE2-4981-0470-15C0-F4ECB5329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64" y="1697092"/>
            <a:ext cx="459171" cy="459171"/>
          </a:xfrm>
          <a:prstGeom prst="rect">
            <a:avLst/>
          </a:prstGeom>
        </p:spPr>
      </p:pic>
      <p:pic>
        <p:nvPicPr>
          <p:cNvPr id="10" name="图片 9" descr="穿着西装笔挺的男子与配字&#10;&#10;AI 生成的内容可能不正确。">
            <a:extLst>
              <a:ext uri="{FF2B5EF4-FFF2-40B4-BE49-F238E27FC236}">
                <a16:creationId xmlns:a16="http://schemas.microsoft.com/office/drawing/2014/main" id="{129195D3-E9A2-E90B-AACC-F84AE7198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401" y="1697092"/>
            <a:ext cx="426819" cy="4268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DDEAA40-383F-7912-4EDF-A762B15C3A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786" y="5323161"/>
            <a:ext cx="470666" cy="47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18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A119C-7DA1-3AA9-FE6D-ECD4840F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F5FE4F-E770-5465-B3AA-721BB69D84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自动化工作流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B913-B34E-AE76-58BE-EF9132FD19F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52465" y="1251961"/>
            <a:ext cx="6743754" cy="5176345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批量化脚本开发</a:t>
            </a:r>
            <a:r>
              <a:rPr lang="zh-CN" altLang="en-US" sz="2000" dirty="0"/>
              <a:t>：</a:t>
            </a:r>
          </a:p>
          <a:p>
            <a:pPr lvl="1"/>
            <a:r>
              <a:rPr lang="zh-CN" altLang="en-US" sz="2000" dirty="0"/>
              <a:t>编写脚本，实现自动化任务调度。</a:t>
            </a:r>
          </a:p>
          <a:p>
            <a:pPr lvl="1"/>
            <a:r>
              <a:rPr lang="zh-CN" altLang="en-US" sz="2000" dirty="0"/>
              <a:t>通过读取 </a:t>
            </a:r>
            <a:r>
              <a:rPr lang="en-US" altLang="zh-CN" sz="2000" i="1" dirty="0"/>
              <a:t>task.csv</a:t>
            </a:r>
            <a:r>
              <a:rPr lang="en-US" altLang="zh-CN" sz="1800" i="1" dirty="0"/>
              <a:t> </a:t>
            </a:r>
            <a:r>
              <a:rPr lang="zh-CN" altLang="en-US" sz="2000" dirty="0"/>
              <a:t>文件配置任务队列（</a:t>
            </a:r>
            <a:r>
              <a:rPr lang="en-US" altLang="zh-CN" sz="2000" dirty="0"/>
              <a:t>Index, Original Image, Target Image</a:t>
            </a:r>
            <a:r>
              <a:rPr lang="zh-CN" altLang="en-US" sz="2000" dirty="0"/>
              <a:t>）。</a:t>
            </a:r>
          </a:p>
          <a:p>
            <a:r>
              <a:rPr lang="zh-CN" altLang="en-US" sz="2000" b="1" dirty="0"/>
              <a:t>自动化逻辑</a:t>
            </a:r>
            <a:r>
              <a:rPr lang="zh-CN" altLang="en-US" sz="2000" dirty="0"/>
              <a:t>：</a:t>
            </a:r>
          </a:p>
          <a:p>
            <a:pPr lvl="1"/>
            <a:r>
              <a:rPr lang="zh-CN" altLang="en-US" sz="2000" dirty="0"/>
              <a:t>脚本自动构建 </a:t>
            </a:r>
            <a:r>
              <a:rPr lang="en-US" altLang="zh-CN" sz="2000" dirty="0"/>
              <a:t>CLI </a:t>
            </a:r>
            <a:r>
              <a:rPr lang="zh-CN" altLang="en-US" sz="2000" dirty="0"/>
              <a:t>命令，调用 </a:t>
            </a:r>
            <a:r>
              <a:rPr lang="en-US" altLang="zh-CN" sz="2000" dirty="0"/>
              <a:t>Roop </a:t>
            </a:r>
            <a:r>
              <a:rPr lang="zh-CN" altLang="en-US" sz="2000" dirty="0"/>
              <a:t>核心接口。</a:t>
            </a:r>
          </a:p>
          <a:p>
            <a:pPr lvl="1"/>
            <a:r>
              <a:rPr lang="zh-CN" altLang="en-US" sz="2000" dirty="0"/>
              <a:t>指定 </a:t>
            </a:r>
            <a:r>
              <a:rPr lang="en-US" altLang="zh-CN" sz="2000" dirty="0"/>
              <a:t>GPU </a:t>
            </a:r>
            <a:r>
              <a:rPr lang="zh-CN" altLang="en-US" sz="2000" dirty="0"/>
              <a:t>加速 </a:t>
            </a:r>
            <a:r>
              <a:rPr lang="en-US" altLang="zh-CN" sz="1800" dirty="0"/>
              <a:t>(</a:t>
            </a:r>
            <a:r>
              <a:rPr lang="en-US" altLang="zh-CN" sz="2000" dirty="0"/>
              <a:t>--execution-provider </a:t>
            </a:r>
            <a:r>
              <a:rPr lang="en-US" altLang="zh-CN" sz="2000" dirty="0" err="1"/>
              <a:t>cuda</a:t>
            </a:r>
            <a:r>
              <a:rPr lang="en-US" altLang="zh-CN" sz="2000" dirty="0"/>
              <a:t>) </a:t>
            </a:r>
            <a:r>
              <a:rPr lang="zh-CN" altLang="en-US" sz="2000" dirty="0"/>
              <a:t>以提升推理速度。</a:t>
            </a:r>
          </a:p>
          <a:p>
            <a:pPr lvl="1"/>
            <a:r>
              <a:rPr lang="zh-CN" altLang="en-US" sz="2000" dirty="0"/>
              <a:t>异常处理：集成文件存在性检查与子进程错误捕获，确保批量任务稳定运行。</a:t>
            </a:r>
          </a:p>
          <a:p>
            <a:endParaRPr lang="zh-CN" altLang="en-US" sz="2400" dirty="0"/>
          </a:p>
          <a:p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64A30B-14FA-022E-83C8-B8B830B8F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996" y="1972813"/>
            <a:ext cx="4397164" cy="349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61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Deepfake</a:t>
            </a:r>
            <a:r>
              <a:rPr lang="zh-CN" altLang="en-US" dirty="0"/>
              <a:t>任务结果分析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A43D35-10DE-4624-B953-1DC6AF98FFDF}"/>
              </a:ext>
            </a:extLst>
          </p:cNvPr>
          <p:cNvSpPr/>
          <p:nvPr/>
        </p:nvSpPr>
        <p:spPr>
          <a:xfrm>
            <a:off x="6792035" y="1580813"/>
            <a:ext cx="3285075" cy="4184451"/>
          </a:xfrm>
          <a:prstGeom prst="rect">
            <a:avLst/>
          </a:prstGeom>
          <a:solidFill>
            <a:schemeClr val="bg2">
              <a:alpha val="70000"/>
            </a:schemeClr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endParaRPr lang="zh-CN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D86695-4C2E-4E83-987B-AC1E4A1140B6}"/>
              </a:ext>
            </a:extLst>
          </p:cNvPr>
          <p:cNvSpPr/>
          <p:nvPr/>
        </p:nvSpPr>
        <p:spPr>
          <a:xfrm>
            <a:off x="6792035" y="1580812"/>
            <a:ext cx="3285075" cy="817733"/>
          </a:xfrm>
          <a:prstGeom prst="rect">
            <a:avLst/>
          </a:prstGeom>
          <a:solidFill>
            <a:schemeClr val="accent3"/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总体效果分析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B0072C-83A7-4675-8984-86603C83FFBF}"/>
              </a:ext>
            </a:extLst>
          </p:cNvPr>
          <p:cNvSpPr/>
          <p:nvPr/>
        </p:nvSpPr>
        <p:spPr>
          <a:xfrm>
            <a:off x="7320518" y="2607525"/>
            <a:ext cx="2519155" cy="89527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+mn-ea"/>
              </a:rPr>
              <a:t>能成功应对绝大多数样例，换脸效果良好。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B0072C-83A7-4675-8984-86603C83FFBF}"/>
              </a:ext>
            </a:extLst>
          </p:cNvPr>
          <p:cNvSpPr/>
          <p:nvPr/>
        </p:nvSpPr>
        <p:spPr>
          <a:xfrm>
            <a:off x="7320517" y="3602519"/>
            <a:ext cx="2519156" cy="87650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+mn-ea"/>
              </a:rPr>
              <a:t>利用自动化流程和</a:t>
            </a:r>
            <a:r>
              <a:rPr lang="en-US" altLang="zh-CN" dirty="0">
                <a:latin typeface="+mn-ea"/>
              </a:rPr>
              <a:t>GPU</a:t>
            </a:r>
            <a:r>
              <a:rPr lang="zh-CN" altLang="en-US" dirty="0">
                <a:latin typeface="+mn-ea"/>
              </a:rPr>
              <a:t>加速后效率很高。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FBD0F9FF-D168-4924-BCDF-DA56664E57A4}"/>
              </a:ext>
            </a:extLst>
          </p:cNvPr>
          <p:cNvSpPr/>
          <p:nvPr/>
        </p:nvSpPr>
        <p:spPr>
          <a:xfrm>
            <a:off x="7012352" y="2812526"/>
            <a:ext cx="166736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algn="ctr"/>
            <a:endParaRPr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4F37F205-43D9-4CDF-83F1-29BC10478E9C}"/>
              </a:ext>
            </a:extLst>
          </p:cNvPr>
          <p:cNvSpPr/>
          <p:nvPr/>
        </p:nvSpPr>
        <p:spPr>
          <a:xfrm>
            <a:off x="7012352" y="3883218"/>
            <a:ext cx="166736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algn="ctr"/>
            <a:endParaRPr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内容占位符 6">
            <a:extLst>
              <a:ext uri="{FF2B5EF4-FFF2-40B4-BE49-F238E27FC236}">
                <a16:creationId xmlns:a16="http://schemas.microsoft.com/office/drawing/2014/main" id="{738033A1-1380-8C44-56DA-2540B266889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257" y="4853097"/>
            <a:ext cx="915414" cy="915414"/>
          </a:xfrm>
        </p:spPr>
      </p:pic>
      <p:pic>
        <p:nvPicPr>
          <p:cNvPr id="4" name="图片 3" descr="女子穿白色衣服&#10;&#10;AI 生成的内容可能不正确。">
            <a:extLst>
              <a:ext uri="{FF2B5EF4-FFF2-40B4-BE49-F238E27FC236}">
                <a16:creationId xmlns:a16="http://schemas.microsoft.com/office/drawing/2014/main" id="{BA6CDEC4-CF03-93CE-5058-678112FE5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712" y="4857458"/>
            <a:ext cx="915414" cy="915414"/>
          </a:xfrm>
          <a:prstGeom prst="rect">
            <a:avLst/>
          </a:prstGeom>
        </p:spPr>
      </p:pic>
      <p:pic>
        <p:nvPicPr>
          <p:cNvPr id="5" name="图片 4" descr="男人伸出手&#10;&#10;AI 生成的内容可能不正确。">
            <a:extLst>
              <a:ext uri="{FF2B5EF4-FFF2-40B4-BE49-F238E27FC236}">
                <a16:creationId xmlns:a16="http://schemas.microsoft.com/office/drawing/2014/main" id="{EA601BB6-BA69-0E44-FE17-A3BA77623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253" y="4842625"/>
            <a:ext cx="915414" cy="915414"/>
          </a:xfrm>
          <a:prstGeom prst="rect">
            <a:avLst/>
          </a:prstGeom>
        </p:spPr>
      </p:pic>
      <p:sp>
        <p:nvSpPr>
          <p:cNvPr id="16" name="加号 15">
            <a:extLst>
              <a:ext uri="{FF2B5EF4-FFF2-40B4-BE49-F238E27FC236}">
                <a16:creationId xmlns:a16="http://schemas.microsoft.com/office/drawing/2014/main" id="{5DDC37A3-3FDD-F397-2D80-6C03F76D859C}"/>
              </a:ext>
            </a:extLst>
          </p:cNvPr>
          <p:cNvSpPr/>
          <p:nvPr/>
        </p:nvSpPr>
        <p:spPr>
          <a:xfrm>
            <a:off x="2141165" y="5113946"/>
            <a:ext cx="476187" cy="47639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等号 25">
            <a:extLst>
              <a:ext uri="{FF2B5EF4-FFF2-40B4-BE49-F238E27FC236}">
                <a16:creationId xmlns:a16="http://schemas.microsoft.com/office/drawing/2014/main" id="{601932E3-B759-E5B8-0810-3A0260BC0348}"/>
              </a:ext>
            </a:extLst>
          </p:cNvPr>
          <p:cNvSpPr/>
          <p:nvPr/>
        </p:nvSpPr>
        <p:spPr>
          <a:xfrm>
            <a:off x="3730130" y="5082788"/>
            <a:ext cx="494664" cy="507556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3B23BE0-DE95-930F-E021-C3E80E5F7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76" y="1350474"/>
            <a:ext cx="915414" cy="915414"/>
          </a:xfrm>
          <a:prstGeom prst="rect">
            <a:avLst/>
          </a:prstGeom>
        </p:spPr>
      </p:pic>
      <p:pic>
        <p:nvPicPr>
          <p:cNvPr id="30" name="图片 29" descr="人的脸&#10;&#10;AI 生成的内容可能不正确。">
            <a:extLst>
              <a:ext uri="{FF2B5EF4-FFF2-40B4-BE49-F238E27FC236}">
                <a16:creationId xmlns:a16="http://schemas.microsoft.com/office/drawing/2014/main" id="{E65098C4-1AAE-A495-2B47-A51FCEF60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3637" y="1340648"/>
            <a:ext cx="915414" cy="91541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7A7B869E-3E75-E6FD-7724-9658F498012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130" y="1339826"/>
            <a:ext cx="915414" cy="915414"/>
          </a:xfrm>
          <a:prstGeom prst="rect">
            <a:avLst/>
          </a:prstGeom>
        </p:spPr>
      </p:pic>
      <p:sp>
        <p:nvSpPr>
          <p:cNvPr id="33" name="加号 32">
            <a:extLst>
              <a:ext uri="{FF2B5EF4-FFF2-40B4-BE49-F238E27FC236}">
                <a16:creationId xmlns:a16="http://schemas.microsoft.com/office/drawing/2014/main" id="{9F034227-986C-D83D-40DE-13B853AFFAFA}"/>
              </a:ext>
            </a:extLst>
          </p:cNvPr>
          <p:cNvSpPr/>
          <p:nvPr/>
        </p:nvSpPr>
        <p:spPr>
          <a:xfrm>
            <a:off x="2140787" y="1611970"/>
            <a:ext cx="476187" cy="47639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号 33">
            <a:extLst>
              <a:ext uri="{FF2B5EF4-FFF2-40B4-BE49-F238E27FC236}">
                <a16:creationId xmlns:a16="http://schemas.microsoft.com/office/drawing/2014/main" id="{F4AC21D4-AA03-DF01-9F09-E65D37F17A9E}"/>
              </a:ext>
            </a:extLst>
          </p:cNvPr>
          <p:cNvSpPr/>
          <p:nvPr/>
        </p:nvSpPr>
        <p:spPr>
          <a:xfrm>
            <a:off x="3744329" y="1580812"/>
            <a:ext cx="494664" cy="507556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E11E43-E5CC-4690-CE24-30CA24CD97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4476" y="3083942"/>
            <a:ext cx="915414" cy="915414"/>
          </a:xfrm>
          <a:prstGeom prst="rect">
            <a:avLst/>
          </a:prstGeom>
        </p:spPr>
      </p:pic>
      <p:sp>
        <p:nvSpPr>
          <p:cNvPr id="17" name="加号 16">
            <a:extLst>
              <a:ext uri="{FF2B5EF4-FFF2-40B4-BE49-F238E27FC236}">
                <a16:creationId xmlns:a16="http://schemas.microsoft.com/office/drawing/2014/main" id="{B216EB09-19F0-1FAB-B997-A20BB8EB91CA}"/>
              </a:ext>
            </a:extLst>
          </p:cNvPr>
          <p:cNvSpPr/>
          <p:nvPr/>
        </p:nvSpPr>
        <p:spPr>
          <a:xfrm>
            <a:off x="2140787" y="3325901"/>
            <a:ext cx="476187" cy="47639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号 17">
            <a:extLst>
              <a:ext uri="{FF2B5EF4-FFF2-40B4-BE49-F238E27FC236}">
                <a16:creationId xmlns:a16="http://schemas.microsoft.com/office/drawing/2014/main" id="{83C5CA9B-785F-662A-EC34-D7D823AABC00}"/>
              </a:ext>
            </a:extLst>
          </p:cNvPr>
          <p:cNvSpPr/>
          <p:nvPr/>
        </p:nvSpPr>
        <p:spPr>
          <a:xfrm>
            <a:off x="3744329" y="3294743"/>
            <a:ext cx="494664" cy="507556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9" name="图片 18" descr="穿着西装笔挺的男子与配字&#10;&#10;AI 生成的内容可能不正确。">
            <a:extLst>
              <a:ext uri="{FF2B5EF4-FFF2-40B4-BE49-F238E27FC236}">
                <a16:creationId xmlns:a16="http://schemas.microsoft.com/office/drawing/2014/main" id="{2DEC5B2B-2499-76D5-DD40-2406CDF2A1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7871" y="3078914"/>
            <a:ext cx="915414" cy="91541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2B80EF9-5037-8EA4-0539-BAF10E71FA1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250" y="3084567"/>
            <a:ext cx="909761" cy="909761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24C065C9-5C95-83C4-ADAF-63031436204E}"/>
              </a:ext>
            </a:extLst>
          </p:cNvPr>
          <p:cNvSpPr/>
          <p:nvPr/>
        </p:nvSpPr>
        <p:spPr>
          <a:xfrm>
            <a:off x="7320517" y="4669984"/>
            <a:ext cx="2519156" cy="87650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+mn-ea"/>
              </a:rPr>
              <a:t>对某些特例（如头发等）的处理有待提升。</a:t>
            </a:r>
          </a:p>
        </p:txBody>
      </p:sp>
      <p:sp>
        <p:nvSpPr>
          <p:cNvPr id="25" name="右箭头 11">
            <a:extLst>
              <a:ext uri="{FF2B5EF4-FFF2-40B4-BE49-F238E27FC236}">
                <a16:creationId xmlns:a16="http://schemas.microsoft.com/office/drawing/2014/main" id="{D0CDCD19-02BC-C675-926E-183514664340}"/>
              </a:ext>
            </a:extLst>
          </p:cNvPr>
          <p:cNvSpPr/>
          <p:nvPr/>
        </p:nvSpPr>
        <p:spPr>
          <a:xfrm>
            <a:off x="7012352" y="4950683"/>
            <a:ext cx="166736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algn="ctr"/>
            <a:endParaRPr lang="zh-CN" altLang="en-US" sz="2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19482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D5817CF-74C2-3DBB-823A-7B99B8BFC3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成果展示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374F540-0097-1125-F1A2-A787C20BBAC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476" y="4010488"/>
            <a:ext cx="915415" cy="915415"/>
          </a:xfr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5EE089B-8D64-E64B-7167-07A61CD05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11" y="1275870"/>
            <a:ext cx="915414" cy="915414"/>
          </a:xfrm>
          <a:prstGeom prst="rect">
            <a:avLst/>
          </a:prstGeom>
        </p:spPr>
      </p:pic>
      <p:pic>
        <p:nvPicPr>
          <p:cNvPr id="7" name="图片 6" descr="人的脸&#10;&#10;AI 生成的内容可能不正确。">
            <a:extLst>
              <a:ext uri="{FF2B5EF4-FFF2-40B4-BE49-F238E27FC236}">
                <a16:creationId xmlns:a16="http://schemas.microsoft.com/office/drawing/2014/main" id="{1838B645-3BA4-DB7F-62FE-349AF0045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772" y="1266044"/>
            <a:ext cx="915414" cy="91541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493F7F7-CB4A-2AB6-61DD-D05DA41311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264" y="1265221"/>
            <a:ext cx="964625" cy="964625"/>
          </a:xfrm>
          <a:prstGeom prst="rect">
            <a:avLst/>
          </a:prstGeom>
        </p:spPr>
      </p:pic>
      <p:sp>
        <p:nvSpPr>
          <p:cNvPr id="9" name="加号 8">
            <a:extLst>
              <a:ext uri="{FF2B5EF4-FFF2-40B4-BE49-F238E27FC236}">
                <a16:creationId xmlns:a16="http://schemas.microsoft.com/office/drawing/2014/main" id="{1067C2F2-44CC-864F-0A3E-63C63A6DE2F9}"/>
              </a:ext>
            </a:extLst>
          </p:cNvPr>
          <p:cNvSpPr/>
          <p:nvPr/>
        </p:nvSpPr>
        <p:spPr>
          <a:xfrm>
            <a:off x="2085922" y="1537366"/>
            <a:ext cx="476187" cy="47639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号 9">
            <a:extLst>
              <a:ext uri="{FF2B5EF4-FFF2-40B4-BE49-F238E27FC236}">
                <a16:creationId xmlns:a16="http://schemas.microsoft.com/office/drawing/2014/main" id="{1B2323BA-5855-0565-B0B5-985EE464ECCE}"/>
              </a:ext>
            </a:extLst>
          </p:cNvPr>
          <p:cNvSpPr/>
          <p:nvPr/>
        </p:nvSpPr>
        <p:spPr>
          <a:xfrm>
            <a:off x="3650849" y="1506208"/>
            <a:ext cx="494664" cy="507556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E64636E-6743-A6C1-6BFE-D01DD0889C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009" y="2610976"/>
            <a:ext cx="915414" cy="915414"/>
          </a:xfrm>
          <a:prstGeom prst="rect">
            <a:avLst/>
          </a:prstGeom>
        </p:spPr>
      </p:pic>
      <p:sp>
        <p:nvSpPr>
          <p:cNvPr id="12" name="加号 11">
            <a:extLst>
              <a:ext uri="{FF2B5EF4-FFF2-40B4-BE49-F238E27FC236}">
                <a16:creationId xmlns:a16="http://schemas.microsoft.com/office/drawing/2014/main" id="{40F974F9-4BA1-8388-A4B0-6401EC12A86C}"/>
              </a:ext>
            </a:extLst>
          </p:cNvPr>
          <p:cNvSpPr/>
          <p:nvPr/>
        </p:nvSpPr>
        <p:spPr>
          <a:xfrm>
            <a:off x="2056320" y="2852935"/>
            <a:ext cx="476187" cy="47639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号 12">
            <a:extLst>
              <a:ext uri="{FF2B5EF4-FFF2-40B4-BE49-F238E27FC236}">
                <a16:creationId xmlns:a16="http://schemas.microsoft.com/office/drawing/2014/main" id="{AA410AFA-9763-84DA-3E0F-ABFD47B44A45}"/>
              </a:ext>
            </a:extLst>
          </p:cNvPr>
          <p:cNvSpPr/>
          <p:nvPr/>
        </p:nvSpPr>
        <p:spPr>
          <a:xfrm>
            <a:off x="3659862" y="2821777"/>
            <a:ext cx="494664" cy="507556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4" name="图片 13" descr="穿着西装笔挺的男子与配字&#10;&#10;AI 生成的内容可能不正确。">
            <a:extLst>
              <a:ext uri="{FF2B5EF4-FFF2-40B4-BE49-F238E27FC236}">
                <a16:creationId xmlns:a16="http://schemas.microsoft.com/office/drawing/2014/main" id="{7EA0B2CD-5E50-968A-6D77-CA5B14A764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3404" y="2605948"/>
            <a:ext cx="915414" cy="91541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0635071-E8E3-7A9E-CAE5-0FFEBCFCE3D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783" y="2611601"/>
            <a:ext cx="909761" cy="90976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06B3185-B294-0136-E5A5-8F958E752D5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57" y="4010488"/>
            <a:ext cx="856210" cy="85621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544A03F-432A-2F5D-B4D7-3DE2F3A1F8E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352" y="4010488"/>
            <a:ext cx="915414" cy="915414"/>
          </a:xfrm>
          <a:prstGeom prst="rect">
            <a:avLst/>
          </a:prstGeom>
        </p:spPr>
      </p:pic>
      <p:sp>
        <p:nvSpPr>
          <p:cNvPr id="20" name="加号 19">
            <a:extLst>
              <a:ext uri="{FF2B5EF4-FFF2-40B4-BE49-F238E27FC236}">
                <a16:creationId xmlns:a16="http://schemas.microsoft.com/office/drawing/2014/main" id="{1BE831E1-6B65-8257-C17E-1C49CA94ACF8}"/>
              </a:ext>
            </a:extLst>
          </p:cNvPr>
          <p:cNvSpPr/>
          <p:nvPr/>
        </p:nvSpPr>
        <p:spPr>
          <a:xfrm>
            <a:off x="2050666" y="4198605"/>
            <a:ext cx="476187" cy="47639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号 20">
            <a:extLst>
              <a:ext uri="{FF2B5EF4-FFF2-40B4-BE49-F238E27FC236}">
                <a16:creationId xmlns:a16="http://schemas.microsoft.com/office/drawing/2014/main" id="{0610EC76-D4CE-A85B-1C01-5AA31BDBE75D}"/>
              </a:ext>
            </a:extLst>
          </p:cNvPr>
          <p:cNvSpPr/>
          <p:nvPr/>
        </p:nvSpPr>
        <p:spPr>
          <a:xfrm>
            <a:off x="3654208" y="4167447"/>
            <a:ext cx="494664" cy="507556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加号 21">
            <a:extLst>
              <a:ext uri="{FF2B5EF4-FFF2-40B4-BE49-F238E27FC236}">
                <a16:creationId xmlns:a16="http://schemas.microsoft.com/office/drawing/2014/main" id="{A55F1451-BD54-D413-5CEF-60F7D3C8FF64}"/>
              </a:ext>
            </a:extLst>
          </p:cNvPr>
          <p:cNvSpPr/>
          <p:nvPr/>
        </p:nvSpPr>
        <p:spPr>
          <a:xfrm>
            <a:off x="2050666" y="5548448"/>
            <a:ext cx="476187" cy="476398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号 22">
            <a:extLst>
              <a:ext uri="{FF2B5EF4-FFF2-40B4-BE49-F238E27FC236}">
                <a16:creationId xmlns:a16="http://schemas.microsoft.com/office/drawing/2014/main" id="{FB67E3F5-2305-D9E4-17FE-6A82D1772AFA}"/>
              </a:ext>
            </a:extLst>
          </p:cNvPr>
          <p:cNvSpPr/>
          <p:nvPr/>
        </p:nvSpPr>
        <p:spPr>
          <a:xfrm>
            <a:off x="3654208" y="5532869"/>
            <a:ext cx="494664" cy="507556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0482E6B-3AB1-2867-02F4-120148BFBBC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130" y="5371126"/>
            <a:ext cx="909760" cy="90976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2E7E1B4-52E7-4926-123A-699601D71E2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57" y="5371126"/>
            <a:ext cx="856210" cy="85621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F6026CAC-6C43-C5AD-0088-8080B30C8AF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79" y="5371126"/>
            <a:ext cx="909760" cy="90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16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 txBox="1">
            <a:spLocks/>
          </p:cNvSpPr>
          <p:nvPr/>
        </p:nvSpPr>
        <p:spPr>
          <a:xfrm>
            <a:off x="0" y="1572999"/>
            <a:ext cx="12192000" cy="1332761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  <p:txBody>
          <a:bodyPr vert="horz" lIns="144000" tIns="144000" rIns="144000" bIns="1440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600" spc="300" dirty="0"/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3589705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JTU-学术">
      <a:dk1>
        <a:srgbClr val="000000"/>
      </a:dk1>
      <a:lt1>
        <a:srgbClr val="FFFFFF"/>
      </a:lt1>
      <a:dk2>
        <a:srgbClr val="003264"/>
      </a:dk2>
      <a:lt2>
        <a:srgbClr val="D9D9D9"/>
      </a:lt2>
      <a:accent1>
        <a:srgbClr val="004098"/>
      </a:accent1>
      <a:accent2>
        <a:srgbClr val="2B75CF"/>
      </a:accent2>
      <a:accent3>
        <a:srgbClr val="BD9F68"/>
      </a:accent3>
      <a:accent4>
        <a:srgbClr val="C55A11"/>
      </a:accent4>
      <a:accent5>
        <a:srgbClr val="FFC000"/>
      </a:accent5>
      <a:accent6>
        <a:srgbClr val="A6A6A6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927</Words>
  <Application>Microsoft Office PowerPoint</Application>
  <PresentationFormat>宽屏</PresentationFormat>
  <Paragraphs>81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宋体</vt:lpstr>
      <vt:lpstr>微软雅黑</vt:lpstr>
      <vt:lpstr>Arial</vt:lpstr>
      <vt:lpstr>Arial Black</vt:lpstr>
      <vt:lpstr>Consolas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Invictus 许歆瑶</dc:creator>
  <cp:lastModifiedBy>Watanabe Chika</cp:lastModifiedBy>
  <cp:revision>140</cp:revision>
  <dcterms:created xsi:type="dcterms:W3CDTF">2021-11-22T04:20:28Z</dcterms:created>
  <dcterms:modified xsi:type="dcterms:W3CDTF">2026-01-07T02:44:15Z</dcterms:modified>
  <cp:contentStatus/>
</cp:coreProperties>
</file>